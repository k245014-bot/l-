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3" r:id="rId3"/>
    <p:sldId id="269" r:id="rId4"/>
    <p:sldId id="257" r:id="rId5"/>
    <p:sldId id="258" r:id="rId6"/>
    <p:sldId id="259" r:id="rId7"/>
    <p:sldId id="260" r:id="rId8"/>
    <p:sldId id="270" r:id="rId9"/>
    <p:sldId id="261" r:id="rId10"/>
    <p:sldId id="271" r:id="rId11"/>
    <p:sldId id="262" r:id="rId12"/>
    <p:sldId id="265" r:id="rId13"/>
    <p:sldId id="266" r:id="rId14"/>
    <p:sldId id="268" r:id="rId15"/>
    <p:sldId id="272" r:id="rId16"/>
    <p:sldId id="273" r:id="rId17"/>
    <p:sldId id="264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47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02E4D-9EF1-4CA4-8622-3B9DBD1F6D22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ABB57D-74DD-42F6-8F06-6E7280C212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907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BB57D-74DD-42F6-8F06-6E7280C21265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9375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BB57D-74DD-42F6-8F06-6E7280C21265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4417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E9A87C-0B73-4880-B45F-1B66960AF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946EC55-EE24-4F24-B90B-213BF7CC12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015A5C-2AF8-4067-A4A4-FEF46F5D8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65A2-5924-481D-AB78-FEA1F85774FC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7E2C89-CD28-41A8-9BD0-A0EE9EFD2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61B190-98E6-45D6-AAE7-246AD56CD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8BF5-320D-43FF-91AF-93C1143C20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6353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6DD532-323A-43F9-9481-7B7E69605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AA1FCBD-3FB6-43E0-AC15-B0A0D68DD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2E3FEA-0A2E-4214-90A5-C40738339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65A2-5924-481D-AB78-FEA1F85774FC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326804-D02E-4B4D-8488-8B0BB409F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D72DCD-D778-430A-977F-79F14FE63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8BF5-320D-43FF-91AF-93C1143C20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6744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5FAA61-EB79-458B-9F40-0D4EBB45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710E54-3BC7-4A61-80D6-899F1DD02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B9B315-9DC8-459E-A9E0-BC56BFB1F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65A2-5924-481D-AB78-FEA1F85774FC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92D0AE-35FE-479D-BD4A-074EC0361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282B9C-629C-4090-879B-0864EFB1E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8BF5-320D-43FF-91AF-93C1143C20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6625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C23B52-7FC8-4D1D-8345-D705B511A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D32C6F-E5FC-45A3-B56A-5CDFB4E56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AB69D57-45A3-4DA1-A0C4-1123933FE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05ADEA5-03B9-49BC-B4F3-C6B2F1991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65A2-5924-481D-AB78-FEA1F85774FC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5FC9DCE-6620-4E5C-B8B6-2AE020E02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4CEB11E-71EB-40FA-9CFF-F9464E782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8BF5-320D-43FF-91AF-93C1143C20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7580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8F7266-5A71-49CD-95D9-5D7125F6B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68497A5-F67A-4701-9093-91F9AFF13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2577480-0E43-4437-B0B3-17CB91D40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AE98490-CE9C-4E7C-B692-83E532EF59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09489B9-E394-4D4B-867D-D7224B88B6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123B969-567C-4C42-8598-F7BBE44EB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65A2-5924-481D-AB78-FEA1F85774FC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A8A4C14-CC57-4726-B25E-47FF82E89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51E9FD6-7E28-40C3-9AB3-FBE7B8436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8BF5-320D-43FF-91AF-93C1143C20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690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4C8A60-65EA-4C1B-95E0-8A77F7972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9A68CEA-71DF-46E1-A66E-1485F3494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65A2-5924-481D-AB78-FEA1F85774FC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03353BD-17F6-4B7D-8537-12EB494BA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C73ECC2-E5F2-4814-BF5F-4F3A1F035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8BF5-320D-43FF-91AF-93C1143C20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7686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441B35C-516F-448C-B933-25FFBA31C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65A2-5924-481D-AB78-FEA1F85774FC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A9200C7-B558-428E-ACF5-E69C4BD81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32750E0-6901-4086-A87F-5A2FA7B5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8BF5-320D-43FF-91AF-93C1143C20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0648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A1CFF3-F057-4B30-B763-AB9FB534C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39B885-CC60-4E76-B0F0-DA6631C3A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3C30DD8-730A-487A-ABCE-181907E0F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5D6F937-A23B-4F56-A60D-2BB14C591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65A2-5924-481D-AB78-FEA1F85774FC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8814660-BE18-4037-A86C-8B39FCF42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D9B68DE-92FD-4EEF-80E1-87C521A60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8BF5-320D-43FF-91AF-93C1143C20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785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219958-345C-48B9-AB75-C2ECFA13E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AE68B07-F99A-42B2-AAE7-CD1246324E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800E2D9-BCE7-45AB-BEEF-5C4CBC2203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C80197-DE14-42F4-A897-411746415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65A2-5924-481D-AB78-FEA1F85774FC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E25214B-75FD-486A-9256-AA4528D80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6BA0CDD-7F13-45E5-AB90-2CC13F8AE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8BF5-320D-43FF-91AF-93C1143C20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6457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2846F5-1E72-4E7F-84DC-570306CCF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77332E0-341E-4BC5-92EC-6CF82E6EC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074662-3CF0-4574-AB28-9528ECF30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65A2-5924-481D-AB78-FEA1F85774FC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4A29BD1-0A1B-4468-BF41-B39CB9FCC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FD47FD-66EC-4511-BB2C-82BEC05E5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8BF5-320D-43FF-91AF-93C1143C20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9506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AF6AE47-C1C8-43A3-8B67-90AA174671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CCE2BA9-34C1-4A25-A3D5-34BF4EB12F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8EE26F-542A-4D20-A51F-A50EF7DBF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65A2-5924-481D-AB78-FEA1F85774FC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C4B66A-D09A-40CB-A3F1-5A94EF1F4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CFBD44-8CCD-4490-9727-996435BF9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8BF5-320D-43FF-91AF-93C1143C20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9251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B0B69A4-4C15-4E11-ACF2-A99410DB5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8646ED-BC26-42BC-828C-0D0317677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EF5CB1-A09F-41F7-8A68-F030716A05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965A2-5924-481D-AB78-FEA1F85774FC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7733DC-30D1-405D-9FFE-E5A54054DF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D0C8C6-C0C4-4EB7-9CD6-D0C238DA16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7D8BF5-320D-43FF-91AF-93C1143C20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588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2F355C-CA74-448F-9CF1-B69BAD6CCC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卒研作品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6CE3F78-59C3-4007-A17F-6121CF5A85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5242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B7260B-CFDF-4119-8E36-7AF77389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ビジュアル、設定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740BA85-7CBB-43B2-8254-88EBEA7AC2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" t="73327" r="-673" b="-1036"/>
          <a:stretch/>
        </p:blipFill>
        <p:spPr>
          <a:xfrm>
            <a:off x="499887" y="1970469"/>
            <a:ext cx="7336751" cy="3079592"/>
          </a:xfrm>
        </p:spPr>
      </p:pic>
    </p:spTree>
    <p:extLst>
      <p:ext uri="{BB962C8B-B14F-4D97-AF65-F5344CB8AC3E}">
        <p14:creationId xmlns:p14="http://schemas.microsoft.com/office/powerpoint/2010/main" val="220382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309B5C-876A-4B94-82C1-CBB6E7EBB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コンセプト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811F96F-E354-4037-8816-07647C760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kumimoji="1" lang="ja-JP" altLang="en-US" dirty="0"/>
              <a:t>爽快感</a:t>
            </a:r>
            <a:r>
              <a:rPr kumimoji="1" lang="en-US" altLang="ja-JP" dirty="0"/>
              <a:t>!?</a:t>
            </a:r>
          </a:p>
          <a:p>
            <a:pPr marL="0" indent="0" algn="just">
              <a:buNone/>
            </a:pPr>
            <a:r>
              <a:rPr kumimoji="1" lang="en-US" altLang="ja-JP" dirty="0"/>
              <a:t>(</a:t>
            </a:r>
            <a:r>
              <a:rPr kumimoji="1" lang="ja-JP" altLang="en-US" dirty="0"/>
              <a:t>魂上乗せ、ベルいっぱい</a:t>
            </a:r>
            <a:r>
              <a:rPr kumimoji="1" lang="en-US" altLang="ja-JP" dirty="0"/>
              <a:t>)</a:t>
            </a:r>
          </a:p>
          <a:p>
            <a:pPr marL="0" indent="0" algn="just">
              <a:buNone/>
            </a:pPr>
            <a:endParaRPr kumimoji="1" lang="en-US" altLang="ja-JP" dirty="0"/>
          </a:p>
          <a:p>
            <a:pPr marL="0" indent="0" algn="just">
              <a:buNone/>
            </a:pPr>
            <a:r>
              <a:rPr kumimoji="1" lang="ja-JP" altLang="en-US" dirty="0"/>
              <a:t>シンプルなゲーム性</a:t>
            </a:r>
            <a:endParaRPr kumimoji="1" lang="en-US" altLang="ja-JP" dirty="0"/>
          </a:p>
          <a:p>
            <a:pPr marL="0" indent="0" algn="just">
              <a:buNone/>
            </a:pPr>
            <a:r>
              <a:rPr kumimoji="1" lang="en-US" altLang="ja-JP" dirty="0"/>
              <a:t>(</a:t>
            </a:r>
            <a:r>
              <a:rPr kumimoji="1" lang="ja-JP" altLang="en-US" dirty="0"/>
              <a:t>スロット初心者、</a:t>
            </a:r>
            <a:r>
              <a:rPr kumimoji="1" lang="en-US" altLang="ja-JP" dirty="0"/>
              <a:t>)</a:t>
            </a:r>
          </a:p>
          <a:p>
            <a:pPr marL="0" indent="0" algn="just">
              <a:buNone/>
            </a:pPr>
            <a:endParaRPr lang="en-US" altLang="ja-JP" dirty="0"/>
          </a:p>
          <a:p>
            <a:pPr marL="0" indent="0" algn="just">
              <a:buNone/>
            </a:pPr>
            <a:r>
              <a:rPr kumimoji="1" lang="ja-JP" altLang="en-US" dirty="0"/>
              <a:t>連チャンの楽しさ</a:t>
            </a:r>
          </a:p>
        </p:txBody>
      </p:sp>
    </p:spTree>
    <p:extLst>
      <p:ext uri="{BB962C8B-B14F-4D97-AF65-F5344CB8AC3E}">
        <p14:creationId xmlns:p14="http://schemas.microsoft.com/office/powerpoint/2010/main" val="2763122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0FE5A5-6200-4A09-AAA5-898C8B57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モチーフ作品</a:t>
            </a:r>
            <a:endParaRPr kumimoji="1" lang="ja-JP" altLang="en-US" dirty="0"/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9B0DE094-9EF9-40AD-B86E-A42277E300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63356" y="1825625"/>
            <a:ext cx="906528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 descr="スマスロ 北斗の拳 転生の章2（北斗転生2パチスロ）設定判別・天井・ゾーン・解析・打ち方・ヤメ時">
            <a:extLst>
              <a:ext uri="{FF2B5EF4-FFF2-40B4-BE49-F238E27FC236}">
                <a16:creationId xmlns:a16="http://schemas.microsoft.com/office/drawing/2014/main" id="{FA9C7DFB-F23D-4A53-BBC4-4199765387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42856" y="357925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70997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1F30D3-D26A-442F-AAA6-B226F44DC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ゲーム性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30EBD18-4F06-414F-83C3-326748E86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5266" y="2089174"/>
            <a:ext cx="5226734" cy="2940038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B9F643E-B231-4666-B49E-7C77B0BE8054}"/>
              </a:ext>
            </a:extLst>
          </p:cNvPr>
          <p:cNvSpPr txBox="1"/>
          <p:nvPr/>
        </p:nvSpPr>
        <p:spPr>
          <a:xfrm>
            <a:off x="442947" y="5371633"/>
            <a:ext cx="111306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消化パート</a:t>
            </a:r>
            <a:r>
              <a:rPr kumimoji="1" lang="ja-JP" altLang="en-US" dirty="0"/>
              <a:t>とバトルパートをループするゲーム性</a:t>
            </a:r>
            <a:endParaRPr kumimoji="1" lang="en-US" altLang="ja-JP" dirty="0"/>
          </a:p>
          <a:p>
            <a:r>
              <a:rPr kumimoji="1" lang="ja-JP" altLang="en-US" dirty="0"/>
              <a:t>消化パートでは、レア役による。球の獲得抽選</a:t>
            </a:r>
            <a:endParaRPr kumimoji="1" lang="en-US" altLang="ja-JP" dirty="0"/>
          </a:p>
          <a:p>
            <a:r>
              <a:rPr lang="ja-JP" altLang="en-US" dirty="0"/>
              <a:t>バトルパートでは、獲得した球と小役に応じて突破抽選。突破でまた消化パートへ</a:t>
            </a:r>
            <a:endParaRPr kumimoji="1" lang="en-US" altLang="ja-JP" dirty="0"/>
          </a:p>
          <a:p>
            <a:r>
              <a:rPr lang="ja-JP" altLang="en-US" dirty="0"/>
              <a:t>バトルで余った球は次のセットに持ち越し、このループで出玉を伸ばす</a:t>
            </a:r>
            <a:endParaRPr kumimoji="1" lang="en-US" altLang="ja-JP" dirty="0"/>
          </a:p>
        </p:txBody>
      </p:sp>
      <p:pic>
        <p:nvPicPr>
          <p:cNvPr id="15" name="コンテンツ プレースホルダー 14">
            <a:extLst>
              <a:ext uri="{FF2B5EF4-FFF2-40B4-BE49-F238E27FC236}">
                <a16:creationId xmlns:a16="http://schemas.microsoft.com/office/drawing/2014/main" id="{226F26F3-6B42-4199-A7BB-A8828315F8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89173"/>
            <a:ext cx="5531109" cy="3111249"/>
          </a:xfr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D39232CD-9BDF-4DAB-B20D-8EA29820B0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774518">
            <a:off x="5117233" y="2571613"/>
            <a:ext cx="2185670" cy="2185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706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847DD7-1E07-4C8B-A43F-049B3A250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消化パート</a:t>
            </a:r>
          </a:p>
        </p:txBody>
      </p:sp>
      <p:pic>
        <p:nvPicPr>
          <p:cNvPr id="4" name="コンテンツ プレースホルダー 4">
            <a:extLst>
              <a:ext uri="{FF2B5EF4-FFF2-40B4-BE49-F238E27FC236}">
                <a16:creationId xmlns:a16="http://schemas.microsoft.com/office/drawing/2014/main" id="{10B771B2-A11E-46E8-8317-88D680731D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15" y="1605133"/>
            <a:ext cx="5725864" cy="3196941"/>
          </a:xfrm>
        </p:spPr>
      </p:pic>
      <p:sp>
        <p:nvSpPr>
          <p:cNvPr id="5" name="矢印: 左 4">
            <a:extLst>
              <a:ext uri="{FF2B5EF4-FFF2-40B4-BE49-F238E27FC236}">
                <a16:creationId xmlns:a16="http://schemas.microsoft.com/office/drawing/2014/main" id="{3F5D3ADA-05A4-422D-8048-6307CED7EE71}"/>
              </a:ext>
            </a:extLst>
          </p:cNvPr>
          <p:cNvSpPr/>
          <p:nvPr/>
        </p:nvSpPr>
        <p:spPr>
          <a:xfrm>
            <a:off x="4780316" y="2713511"/>
            <a:ext cx="1999839" cy="980184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A3E4AC3-3C7F-482E-BBC5-CDF1CB0EBFF3}"/>
              </a:ext>
            </a:extLst>
          </p:cNvPr>
          <p:cNvSpPr txBox="1"/>
          <p:nvPr/>
        </p:nvSpPr>
        <p:spPr>
          <a:xfrm>
            <a:off x="7084956" y="2911215"/>
            <a:ext cx="2730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これを集める</a:t>
            </a:r>
            <a:endParaRPr kumimoji="1" lang="en-US" altLang="ja-JP" sz="3200" b="1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D0A018B-530A-4112-B402-70EA1CF7B6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8433" y="4098342"/>
            <a:ext cx="4955445" cy="2716246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824007F-8E0B-4706-BB3D-B496C2E9BFCB}"/>
              </a:ext>
            </a:extLst>
          </p:cNvPr>
          <p:cNvSpPr txBox="1"/>
          <p:nvPr/>
        </p:nvSpPr>
        <p:spPr>
          <a:xfrm>
            <a:off x="342078" y="5118752"/>
            <a:ext cx="64380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主にレア役、勝舞揃い</a:t>
            </a:r>
            <a:r>
              <a:rPr kumimoji="1" lang="en-US" altLang="ja-JP" dirty="0"/>
              <a:t>(</a:t>
            </a:r>
            <a:r>
              <a:rPr kumimoji="1" lang="ja-JP" altLang="en-US" dirty="0"/>
              <a:t>ベル、リプレイの変換</a:t>
            </a:r>
            <a:r>
              <a:rPr kumimoji="1" lang="en-US" altLang="ja-JP" dirty="0"/>
              <a:t>)</a:t>
            </a:r>
            <a:r>
              <a:rPr kumimoji="1" lang="ja-JP" altLang="en-US" dirty="0"/>
              <a:t>で獲得抽選</a:t>
            </a:r>
            <a:endParaRPr kumimoji="1" lang="en-US" altLang="ja-JP" dirty="0"/>
          </a:p>
          <a:p>
            <a:r>
              <a:rPr lang="ja-JP" altLang="en-US" dirty="0"/>
              <a:t>開始時の内部状態によってレア役以外の獲得の優遇、複数取得</a:t>
            </a:r>
            <a:endParaRPr lang="en-US" altLang="ja-JP" dirty="0"/>
          </a:p>
          <a:p>
            <a:r>
              <a:rPr kumimoji="1" lang="ja-JP" altLang="en-US" dirty="0"/>
              <a:t>ステージの演出で内部状態の示唆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83412168-91A0-423F-843E-63C83B28C0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61"/>
          <a:stretch/>
        </p:blipFill>
        <p:spPr>
          <a:xfrm>
            <a:off x="7899307" y="151857"/>
            <a:ext cx="3572332" cy="230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767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FC58B1-2054-45F5-B470-CC1D26D6F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ミニ特化ゾーン</a:t>
            </a:r>
            <a:r>
              <a:rPr kumimoji="1" lang="en-US" altLang="ja-JP" dirty="0"/>
              <a:t>?</a:t>
            </a:r>
            <a:r>
              <a:rPr kumimoji="1" lang="ja-JP" altLang="en-US" dirty="0"/>
              <a:t>　</a:t>
            </a:r>
            <a:r>
              <a:rPr kumimoji="1" lang="en-US" altLang="ja-JP" dirty="0"/>
              <a:t>(</a:t>
            </a:r>
            <a:r>
              <a:rPr kumimoji="1" lang="ja-JP" altLang="en-US" dirty="0"/>
              <a:t>オリジナル要素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9F49F01-D34F-4F31-AAF9-7466DFD7A2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955" y="1738505"/>
            <a:ext cx="5240072" cy="2951907"/>
          </a:xfr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BBC1132-DB10-40E9-BFF8-5549D6C81DFD}"/>
              </a:ext>
            </a:extLst>
          </p:cNvPr>
          <p:cNvSpPr txBox="1"/>
          <p:nvPr/>
        </p:nvSpPr>
        <p:spPr>
          <a:xfrm>
            <a:off x="467068" y="4900921"/>
            <a:ext cx="113214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一部の球上乗せ時にミニ特化ゾーンに突入</a:t>
            </a:r>
            <a:endParaRPr kumimoji="1" lang="en-US" altLang="ja-JP" dirty="0"/>
          </a:p>
          <a:p>
            <a:pPr algn="ctr"/>
            <a:r>
              <a:rPr lang="ja-JP" altLang="en-US" dirty="0"/>
              <a:t>小役連に応じて上乗せ</a:t>
            </a:r>
            <a:r>
              <a:rPr lang="en-US" altLang="ja-JP" dirty="0"/>
              <a:t>!?</a:t>
            </a:r>
            <a:endParaRPr kumimoji="1" lang="en-US" altLang="ja-JP" dirty="0"/>
          </a:p>
          <a:p>
            <a:pPr algn="ctr"/>
            <a:r>
              <a:rPr lang="en-US" altLang="ja-JP" dirty="0"/>
              <a:t>2</a:t>
            </a:r>
            <a:r>
              <a:rPr lang="ja-JP" altLang="en-US" dirty="0"/>
              <a:t>→</a:t>
            </a:r>
            <a:r>
              <a:rPr lang="en-US" altLang="ja-JP" dirty="0"/>
              <a:t>5</a:t>
            </a:r>
            <a:r>
              <a:rPr lang="ja-JP" altLang="en-US" dirty="0"/>
              <a:t>→</a:t>
            </a:r>
            <a:r>
              <a:rPr lang="en-US" altLang="ja-JP" dirty="0"/>
              <a:t>10</a:t>
            </a:r>
            <a:r>
              <a:rPr lang="ja-JP" altLang="en-US" dirty="0"/>
              <a:t>→</a:t>
            </a:r>
            <a:r>
              <a:rPr lang="en-US" altLang="ja-JP" dirty="0"/>
              <a:t>20</a:t>
            </a:r>
            <a:r>
              <a:rPr lang="ja-JP" altLang="en-US" dirty="0"/>
              <a:t>→</a:t>
            </a:r>
            <a:r>
              <a:rPr lang="en-US" altLang="ja-JP" dirty="0"/>
              <a:t>30</a:t>
            </a:r>
          </a:p>
          <a:p>
            <a:pPr algn="ctr"/>
            <a:endParaRPr kumimoji="1" lang="en-US" altLang="ja-JP" dirty="0"/>
          </a:p>
          <a:p>
            <a:pPr algn="ctr"/>
            <a:r>
              <a:rPr kumimoji="1" lang="ja-JP" altLang="en-US" dirty="0"/>
              <a:t>小役連の自力感</a:t>
            </a:r>
            <a:r>
              <a:rPr kumimoji="1" lang="en-US" altLang="ja-JP" dirty="0"/>
              <a:t>!?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84824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C713D9-8F63-4B14-89C4-084A1A31A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7</a:t>
            </a:r>
            <a:r>
              <a:rPr kumimoji="1" lang="ja-JP" altLang="en-US" dirty="0"/>
              <a:t>カットイン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FC6EDE0-B5A1-4544-9EC0-3BBE7B8E1F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4606" y="1974947"/>
            <a:ext cx="5543331" cy="2680398"/>
          </a:xfr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0F91BC4-DEC3-4BD3-9D82-7A9449ACE983}"/>
              </a:ext>
            </a:extLst>
          </p:cNvPr>
          <p:cNvSpPr txBox="1"/>
          <p:nvPr/>
        </p:nvSpPr>
        <p:spPr>
          <a:xfrm>
            <a:off x="5248141" y="5318975"/>
            <a:ext cx="2189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成功で</a:t>
            </a:r>
            <a:r>
              <a:rPr kumimoji="1" lang="en-US" altLang="ja-JP" dirty="0"/>
              <a:t>V</a:t>
            </a:r>
            <a:r>
              <a:rPr kumimoji="1" lang="ja-JP" altLang="en-US" dirty="0"/>
              <a:t>ストック</a:t>
            </a:r>
          </a:p>
        </p:txBody>
      </p:sp>
    </p:spTree>
    <p:extLst>
      <p:ext uri="{BB962C8B-B14F-4D97-AF65-F5344CB8AC3E}">
        <p14:creationId xmlns:p14="http://schemas.microsoft.com/office/powerpoint/2010/main" val="1310530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AE6DCD-B8F8-4588-85E9-80478D066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バトルパート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9FC6DD3-5663-48FB-9C16-AD82C498C5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3145" y="1413501"/>
            <a:ext cx="6548809" cy="3683705"/>
          </a:xfr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4AD009B-9558-4E7B-BF1D-84331B793CB4}"/>
              </a:ext>
            </a:extLst>
          </p:cNvPr>
          <p:cNvSpPr txBox="1"/>
          <p:nvPr/>
        </p:nvSpPr>
        <p:spPr>
          <a:xfrm>
            <a:off x="721217" y="5344731"/>
            <a:ext cx="106325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敵の攻撃によって技の示唆</a:t>
            </a:r>
            <a:r>
              <a:rPr lang="en-US" altLang="ja-JP" dirty="0"/>
              <a:t>(</a:t>
            </a:r>
            <a:r>
              <a:rPr lang="ja-JP" altLang="en-US" dirty="0"/>
              <a:t>矛盾でチャンス</a:t>
            </a:r>
            <a:r>
              <a:rPr lang="en-US" altLang="ja-JP" dirty="0"/>
              <a:t>)</a:t>
            </a:r>
          </a:p>
          <a:p>
            <a:pPr algn="ctr"/>
            <a:r>
              <a:rPr lang="ja-JP" altLang="en-US" dirty="0"/>
              <a:t>攻撃の種類によっても期待度の変化？</a:t>
            </a:r>
            <a:r>
              <a:rPr lang="en-US" altLang="ja-JP" dirty="0"/>
              <a:t>(</a:t>
            </a:r>
            <a:r>
              <a:rPr lang="ja-JP" altLang="en-US" dirty="0"/>
              <a:t>チャンスアップ発生</a:t>
            </a:r>
            <a:r>
              <a:rPr lang="en-US" altLang="ja-JP" dirty="0"/>
              <a:t>)</a:t>
            </a:r>
          </a:p>
          <a:p>
            <a:pPr algn="ctr"/>
            <a:r>
              <a:rPr lang="ja-JP" altLang="en-US" dirty="0"/>
              <a:t>勇者とのバトル</a:t>
            </a:r>
            <a:r>
              <a:rPr lang="en-US" altLang="ja-JP" dirty="0"/>
              <a:t>(</a:t>
            </a:r>
            <a:r>
              <a:rPr lang="ja-JP" altLang="en-US" dirty="0"/>
              <a:t>中ボスが出れば激アツ</a:t>
            </a:r>
            <a:r>
              <a:rPr lang="en-US" altLang="ja-JP" dirty="0"/>
              <a:t>!?)</a:t>
            </a:r>
          </a:p>
          <a:p>
            <a:pPr algn="ctr"/>
            <a:r>
              <a:rPr kumimoji="1" lang="en-US" altLang="ja-JP" dirty="0"/>
              <a:t>1</a:t>
            </a:r>
            <a:r>
              <a:rPr kumimoji="1" lang="ja-JP" altLang="en-US" dirty="0"/>
              <a:t>ゲーム決着</a:t>
            </a:r>
          </a:p>
        </p:txBody>
      </p:sp>
    </p:spTree>
    <p:extLst>
      <p:ext uri="{BB962C8B-B14F-4D97-AF65-F5344CB8AC3E}">
        <p14:creationId xmlns:p14="http://schemas.microsoft.com/office/powerpoint/2010/main" val="908208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1DB172-F4DD-4D19-9B27-122B71571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バトルパート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71B2A53-5DE2-4377-9E34-C56A109E3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63237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7709EF-8E69-48AD-A634-4425F4A94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演出周り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D79E181-E8AD-417B-8687-A666796D3C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771" y="1253331"/>
            <a:ext cx="7428548" cy="4351338"/>
          </a:xfr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AA7EB7D-F6F9-4627-983E-91796981BC1F}"/>
              </a:ext>
            </a:extLst>
          </p:cNvPr>
          <p:cNvSpPr txBox="1"/>
          <p:nvPr/>
        </p:nvSpPr>
        <p:spPr>
          <a:xfrm>
            <a:off x="1223493" y="5879206"/>
            <a:ext cx="9852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敵の周りに主人公を置いて、無双ゲーム</a:t>
            </a:r>
            <a:r>
              <a:rPr kumimoji="1" lang="en-US" altLang="ja-JP" dirty="0" err="1"/>
              <a:t>pv</a:t>
            </a:r>
            <a:r>
              <a:rPr kumimoji="1" lang="ja-JP" altLang="en-US" dirty="0"/>
              <a:t>イメージ</a:t>
            </a: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8BC1224A-81FD-463C-B197-3B97BDEC10EE}"/>
              </a:ext>
            </a:extLst>
          </p:cNvPr>
          <p:cNvSpPr/>
          <p:nvPr/>
        </p:nvSpPr>
        <p:spPr>
          <a:xfrm>
            <a:off x="5454203" y="2865549"/>
            <a:ext cx="1184856" cy="117841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BC1B3066-FE8F-407C-9EDA-C5E43783055A}"/>
              </a:ext>
            </a:extLst>
          </p:cNvPr>
          <p:cNvCxnSpPr>
            <a:stCxn id="10" idx="7"/>
          </p:cNvCxnSpPr>
          <p:nvPr/>
        </p:nvCxnSpPr>
        <p:spPr>
          <a:xfrm flipV="1">
            <a:off x="6465541" y="1764406"/>
            <a:ext cx="4494380" cy="127371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238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4886EB-5B7F-43B8-9653-7AAEB8638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演出イメージ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AAB2C88-6D6D-4B6B-86C4-647298977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63" t="18259" r="8517" b="22251"/>
          <a:stretch/>
        </p:blipFill>
        <p:spPr>
          <a:xfrm>
            <a:off x="3245476" y="1925391"/>
            <a:ext cx="5061397" cy="3882981"/>
          </a:xfrm>
        </p:spPr>
      </p:pic>
      <p:sp>
        <p:nvSpPr>
          <p:cNvPr id="6" name="楕円 5">
            <a:extLst>
              <a:ext uri="{FF2B5EF4-FFF2-40B4-BE49-F238E27FC236}">
                <a16:creationId xmlns:a16="http://schemas.microsoft.com/office/drawing/2014/main" id="{C8DF9B51-5873-45C5-9CDF-D20932703898}"/>
              </a:ext>
            </a:extLst>
          </p:cNvPr>
          <p:cNvSpPr/>
          <p:nvPr/>
        </p:nvSpPr>
        <p:spPr>
          <a:xfrm>
            <a:off x="5299656" y="2949262"/>
            <a:ext cx="1429555" cy="115265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A3CF97D7-CB91-4DE4-AD71-9168A9974EE3}"/>
              </a:ext>
            </a:extLst>
          </p:cNvPr>
          <p:cNvCxnSpPr>
            <a:cxnSpLocks/>
          </p:cNvCxnSpPr>
          <p:nvPr/>
        </p:nvCxnSpPr>
        <p:spPr>
          <a:xfrm>
            <a:off x="6626180" y="3239037"/>
            <a:ext cx="3322750" cy="28655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D0B0A49-C454-4314-86C0-5CCE18848CE2}"/>
              </a:ext>
            </a:extLst>
          </p:cNvPr>
          <p:cNvSpPr txBox="1"/>
          <p:nvPr/>
        </p:nvSpPr>
        <p:spPr>
          <a:xfrm>
            <a:off x="8706118" y="3525591"/>
            <a:ext cx="3309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真ん中主人公</a:t>
            </a:r>
            <a:endParaRPr kumimoji="1" lang="en-US" altLang="ja-JP" dirty="0"/>
          </a:p>
          <a:p>
            <a:r>
              <a:rPr lang="ja-JP" altLang="en-US" dirty="0"/>
              <a:t>周りの雑魚敵に囲まれる</a:t>
            </a:r>
            <a:r>
              <a:rPr lang="en-US" altLang="ja-JP" dirty="0"/>
              <a:t>!?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28627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1F4A63-9A4F-4E34-8397-12AA8F055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5E6556DD-ADE2-4B47-B68F-6A23ABE0B0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88" y="340977"/>
            <a:ext cx="3816546" cy="3048157"/>
          </a:xfrm>
        </p:spPr>
      </p:pic>
      <p:sp>
        <p:nvSpPr>
          <p:cNvPr id="4" name="AutoShape 2" descr="駆動鎧ステージ">
            <a:extLst>
              <a:ext uri="{FF2B5EF4-FFF2-40B4-BE49-F238E27FC236}">
                <a16:creationId xmlns:a16="http://schemas.microsoft.com/office/drawing/2014/main" id="{C3C1CF79-35E4-4E3A-80F5-B14D9FBEFB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29000" y="1295400"/>
            <a:ext cx="5334000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1028" name="Picture 4" descr="新鬼武者3（スマスロ）】AT中の演出法則・継続率示唆まとめ">
            <a:extLst>
              <a:ext uri="{FF2B5EF4-FFF2-40B4-BE49-F238E27FC236}">
                <a16:creationId xmlns:a16="http://schemas.microsoft.com/office/drawing/2014/main" id="{FCBA1ED2-2956-4FC2-8696-5FD317F27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0179" y="218605"/>
            <a:ext cx="5439318" cy="3048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ヨシテル推しなんだぁぁあ！みんなは誰推し？誰好き？ #戦国乙女4戦乱に閃く炯眼の軍師 #まちこりーたボイス | TikTok">
            <a:extLst>
              <a:ext uri="{FF2B5EF4-FFF2-40B4-BE49-F238E27FC236}">
                <a16:creationId xmlns:a16="http://schemas.microsoft.com/office/drawing/2014/main" id="{0115C12A-60DB-4162-AF6C-2932965850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32" b="27918"/>
          <a:stretch/>
        </p:blipFill>
        <p:spPr bwMode="auto">
          <a:xfrm>
            <a:off x="3072819" y="4001311"/>
            <a:ext cx="4116677" cy="2647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299E233-3552-4105-A02C-B68D26C9C184}"/>
              </a:ext>
            </a:extLst>
          </p:cNvPr>
          <p:cNvSpPr txBox="1"/>
          <p:nvPr/>
        </p:nvSpPr>
        <p:spPr>
          <a:xfrm>
            <a:off x="1191296" y="3592025"/>
            <a:ext cx="2929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囲まれてるかんじ</a:t>
            </a:r>
            <a:r>
              <a:rPr lang="en-US" altLang="ja-JP" dirty="0"/>
              <a:t>?</a:t>
            </a:r>
          </a:p>
          <a:p>
            <a:r>
              <a:rPr kumimoji="1" lang="en-US" altLang="ja-JP" dirty="0"/>
              <a:t>AT</a:t>
            </a:r>
            <a:r>
              <a:rPr kumimoji="1" lang="ja-JP" altLang="en-US" dirty="0"/>
              <a:t>中画面</a:t>
            </a:r>
            <a:endParaRPr kumimoji="1" lang="en-US" altLang="ja-JP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59664BA-017B-4173-9523-C6EB936709DA}"/>
              </a:ext>
            </a:extLst>
          </p:cNvPr>
          <p:cNvSpPr txBox="1"/>
          <p:nvPr/>
        </p:nvSpPr>
        <p:spPr>
          <a:xfrm>
            <a:off x="7570631" y="3290910"/>
            <a:ext cx="2929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ベルナビ</a:t>
            </a:r>
            <a:endParaRPr lang="en-US" altLang="ja-JP" dirty="0"/>
          </a:p>
          <a:p>
            <a:r>
              <a:rPr kumimoji="1" lang="ja-JP" altLang="en-US" dirty="0"/>
              <a:t>敵を倒すイメージ</a:t>
            </a:r>
            <a:endParaRPr kumimoji="1" lang="en-US" altLang="ja-JP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46C2FFE-125E-44FE-AA2D-A055C60F71D2}"/>
              </a:ext>
            </a:extLst>
          </p:cNvPr>
          <p:cNvSpPr txBox="1"/>
          <p:nvPr/>
        </p:nvSpPr>
        <p:spPr>
          <a:xfrm>
            <a:off x="7409417" y="4867516"/>
            <a:ext cx="2929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小役の示唆！？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51915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F85B6C-27CC-4930-8A27-90FAC3C33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AT</a:t>
            </a:r>
            <a:r>
              <a:rPr kumimoji="1" lang="ja-JP" altLang="en-US" dirty="0"/>
              <a:t>中ステージ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015CBAC-85A5-4CF3-A2F4-7C0A53219F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2288" y="1557561"/>
            <a:ext cx="4334687" cy="2523995"/>
          </a:xfr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A10A971-C6EA-42A0-90ED-A28FEC7CE159}"/>
              </a:ext>
            </a:extLst>
          </p:cNvPr>
          <p:cNvSpPr txBox="1"/>
          <p:nvPr/>
        </p:nvSpPr>
        <p:spPr>
          <a:xfrm>
            <a:off x="9438067" y="4396138"/>
            <a:ext cx="3831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全滅</a:t>
            </a:r>
            <a:r>
              <a:rPr kumimoji="1" lang="en-US" altLang="ja-JP" dirty="0"/>
              <a:t>!?</a:t>
            </a:r>
            <a:endParaRPr kumimoji="1"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0B7974D-14F6-4EAC-8AFF-910A19EDB4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744" y="1347981"/>
            <a:ext cx="3816546" cy="3048157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DC285B7B-1BEE-438A-B5C3-93188D71ABD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48" t="15211" r="42007" b="21332"/>
          <a:stretch/>
        </p:blipFill>
        <p:spPr>
          <a:xfrm>
            <a:off x="99918" y="1384515"/>
            <a:ext cx="3638804" cy="2955702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5381EC2-CD59-4452-8EEC-3E5AE71B92B8}"/>
              </a:ext>
            </a:extLst>
          </p:cNvPr>
          <p:cNvSpPr txBox="1"/>
          <p:nvPr/>
        </p:nvSpPr>
        <p:spPr>
          <a:xfrm>
            <a:off x="4904703" y="4565400"/>
            <a:ext cx="3831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囲まれる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7BEFF59-EE58-4519-BB1F-10316D00DFFF}"/>
              </a:ext>
            </a:extLst>
          </p:cNvPr>
          <p:cNvSpPr txBox="1"/>
          <p:nvPr/>
        </p:nvSpPr>
        <p:spPr>
          <a:xfrm>
            <a:off x="1283595" y="4488602"/>
            <a:ext cx="3831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走る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86B024D-3B52-4DED-BD8F-356EF3398701}"/>
              </a:ext>
            </a:extLst>
          </p:cNvPr>
          <p:cNvSpPr txBox="1"/>
          <p:nvPr/>
        </p:nvSpPr>
        <p:spPr>
          <a:xfrm>
            <a:off x="1133339" y="6182779"/>
            <a:ext cx="9105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進むごとに高レベル示唆</a:t>
            </a:r>
            <a:r>
              <a:rPr lang="en-US" altLang="ja-JP" dirty="0"/>
              <a:t>?</a:t>
            </a:r>
            <a:endParaRPr kumimoji="1" lang="ja-JP" altLang="en-US" dirty="0"/>
          </a:p>
        </p:txBody>
      </p:sp>
      <p:sp>
        <p:nvSpPr>
          <p:cNvPr id="14" name="矢印: V 字型 13">
            <a:extLst>
              <a:ext uri="{FF2B5EF4-FFF2-40B4-BE49-F238E27FC236}">
                <a16:creationId xmlns:a16="http://schemas.microsoft.com/office/drawing/2014/main" id="{01C89BF6-0EA3-4FB1-A1C5-4B816F326C9A}"/>
              </a:ext>
            </a:extLst>
          </p:cNvPr>
          <p:cNvSpPr/>
          <p:nvPr/>
        </p:nvSpPr>
        <p:spPr>
          <a:xfrm>
            <a:off x="3105260" y="4544232"/>
            <a:ext cx="4739425" cy="1468753"/>
          </a:xfrm>
          <a:prstGeom prst="notched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9688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4716B6-D372-44D7-96DB-FDA0BC655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ステージの示唆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30E928-EE5C-4089-A9CC-122CF6602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モーションを変えずに、空の色を変えて</a:t>
            </a:r>
            <a:r>
              <a:rPr lang="ja-JP" altLang="en-US" dirty="0"/>
              <a:t>示唆</a:t>
            </a:r>
            <a:r>
              <a:rPr lang="en-US" altLang="ja-JP" dirty="0"/>
              <a:t>?</a:t>
            </a:r>
          </a:p>
          <a:p>
            <a:pPr marL="0" indent="0">
              <a:buNone/>
            </a:pPr>
            <a:r>
              <a:rPr kumimoji="1" lang="en-US" altLang="ja-JP" dirty="0"/>
              <a:t>(</a:t>
            </a:r>
            <a:r>
              <a:rPr kumimoji="1" lang="ja-JP" altLang="en-US" dirty="0"/>
              <a:t>青空→夕方</a:t>
            </a:r>
            <a:r>
              <a:rPr kumimoji="1" lang="en-US" altLang="ja-JP" dirty="0"/>
              <a:t>)</a:t>
            </a:r>
          </a:p>
          <a:p>
            <a:pPr marL="0" indent="0">
              <a:buNone/>
            </a:pPr>
            <a:r>
              <a:rPr lang="ja-JP" altLang="en-US" dirty="0"/>
              <a:t>・カメラ位置の変更を変更</a:t>
            </a:r>
            <a:endParaRPr lang="en-US" altLang="ja-JP" dirty="0"/>
          </a:p>
          <a:p>
            <a:pPr marL="0" indent="0">
              <a:buNone/>
            </a:pPr>
            <a:r>
              <a:rPr kumimoji="1" lang="en-US" altLang="ja-JP" dirty="0"/>
              <a:t>(</a:t>
            </a:r>
            <a:r>
              <a:rPr kumimoji="1" lang="ja-JP" altLang="en-US" dirty="0"/>
              <a:t>右からの追っていたのを、上からの見下ろす</a:t>
            </a:r>
            <a:r>
              <a:rPr kumimoji="1" lang="en-US" altLang="ja-JP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04724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C4B782-074E-4894-829D-4222353A5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9E7CBF-2EBE-4E6F-AD31-156CF2B34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68449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E139F9-E0C5-4D8F-A88B-A70109658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オーラや剣の色で小役示唆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B84938A-46BA-453B-96FA-64DE995AD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180" y="1407061"/>
            <a:ext cx="7428548" cy="4351338"/>
          </a:xfr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8ACBBF4-AE8D-4689-B08D-683EFA868289}"/>
              </a:ext>
            </a:extLst>
          </p:cNvPr>
          <p:cNvSpPr txBox="1"/>
          <p:nvPr/>
        </p:nvSpPr>
        <p:spPr>
          <a:xfrm>
            <a:off x="1169831" y="5976643"/>
            <a:ext cx="9543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エフェクト纏わせる</a:t>
            </a:r>
            <a:r>
              <a:rPr kumimoji="1" lang="en-US" altLang="ja-JP" dirty="0"/>
              <a:t>?</a:t>
            </a:r>
          </a:p>
          <a:p>
            <a:pPr algn="ctr"/>
            <a:r>
              <a:rPr lang="ja-JP" altLang="en-US" dirty="0"/>
              <a:t>剣に色を纏わせる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86054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1175</TotalTime>
  <Words>333</Words>
  <Application>Microsoft Office PowerPoint</Application>
  <PresentationFormat>ワイド画面</PresentationFormat>
  <Paragraphs>60</Paragraphs>
  <Slides>17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1" baseType="lpstr">
      <vt:lpstr>游ゴシック</vt:lpstr>
      <vt:lpstr>游ゴシック Light</vt:lpstr>
      <vt:lpstr>Arial</vt:lpstr>
      <vt:lpstr>Office テーマ</vt:lpstr>
      <vt:lpstr>卒研作品</vt:lpstr>
      <vt:lpstr>ビジュアル、設定</vt:lpstr>
      <vt:lpstr>コンセプト</vt:lpstr>
      <vt:lpstr>モチーフ作品</vt:lpstr>
      <vt:lpstr>ゲーム性</vt:lpstr>
      <vt:lpstr>消化パート</vt:lpstr>
      <vt:lpstr>ミニ特化ゾーン?　(オリジナル要素)</vt:lpstr>
      <vt:lpstr>7カットイン</vt:lpstr>
      <vt:lpstr>バトルパート</vt:lpstr>
      <vt:lpstr>バトルパート</vt:lpstr>
      <vt:lpstr>演出周り</vt:lpstr>
      <vt:lpstr>演出イメージ</vt:lpstr>
      <vt:lpstr>PowerPoint プレゼンテーション</vt:lpstr>
      <vt:lpstr>AT中ステージ</vt:lpstr>
      <vt:lpstr>ステージの示唆</vt:lpstr>
      <vt:lpstr>PowerPoint プレゼンテーション</vt:lpstr>
      <vt:lpstr>オーラや剣の色で小役示唆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卒研作品</dc:title>
  <dc:creator>バナナ 頑張る</dc:creator>
  <cp:lastModifiedBy>バナナ 頑張る</cp:lastModifiedBy>
  <cp:revision>23</cp:revision>
  <dcterms:created xsi:type="dcterms:W3CDTF">2026-09-29T00:48:04Z</dcterms:created>
  <dcterms:modified xsi:type="dcterms:W3CDTF">2026-10-20T04:06:03Z</dcterms:modified>
</cp:coreProperties>
</file>