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5" r:id="rId3"/>
    <p:sldId id="259" r:id="rId4"/>
    <p:sldId id="260" r:id="rId5"/>
    <p:sldId id="262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47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4A0861-22BA-4026-944D-EB5279797098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1FAD95-08AF-4277-B430-BA31B4879F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7179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FAD95-08AF-4277-B430-BA31B4879F4C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8430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79324-A415-43CA-B25B-8078351CF3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16BC179-DFC6-4102-9F64-0617016A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1C804B-D8E9-4620-A318-BE874D122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35A9-211E-48A2-A395-002010FB2EA6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F85DC8-1CE9-409E-AB29-FF4E80F80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E511DC-6A82-49CA-B075-F70840BC0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DC9BD-0667-462E-BCC0-C12D90CF5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8218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E0B49C-37E9-4AF2-9139-CC65EB838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2D7AAB-847D-409C-BDA9-8DDD77A8D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33C6D1-9202-41B4-968E-6B5CE8EF5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35A9-211E-48A2-A395-002010FB2EA6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11A81A-56F4-47FE-AF6B-DEA1A06AF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614CEC-F090-4F54-BB95-FA7F318FA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DC9BD-0667-462E-BCC0-C12D90CF5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729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5E4219-5371-4452-82ED-6B6D8ED79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CA256B-7014-454C-8189-0EAC81FEB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B16D49-25AC-4097-85CB-C9287834C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35A9-211E-48A2-A395-002010FB2EA6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09C43B-ABC7-4E1E-8892-23AFE8B21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B19456-5F21-414C-BCED-BFA644A94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DC9BD-0667-462E-BCC0-C12D90CF5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1536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547EE1-4018-4422-85B4-303A14C7B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DCA340-210A-493F-A255-4182A3C4D2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F0211D6-7A4B-41E3-AAE5-24F68F0C6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368C153-C4FE-4F06-A84F-1187B6C46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35A9-211E-48A2-A395-002010FB2EA6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87B26C-CAB8-4B48-9CE9-E54B0CA71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56233A5-AAD6-4686-BAC0-83BFBFCE9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DC9BD-0667-462E-BCC0-C12D90CF5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12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FB5D0F-ECF0-4E31-8276-6973C8D89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0E0201-3F00-4369-AB38-5D8546F34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4C3142B-86C7-452E-921E-EA399AB42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9A38BC0-84E3-475E-AAD4-ABE21D978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EAADF22-E690-40E2-913A-14A5BABD7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7386E96-F9EC-47FC-B29B-54C059D5C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35A9-211E-48A2-A395-002010FB2EA6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0CB65B7-E563-4A9D-A444-89F0D10EA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72ADC56-1ACB-449D-B0A3-33C6AADCA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DC9BD-0667-462E-BCC0-C12D90CF5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027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61B556-3F46-48B7-B765-5EAE9872C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2C9949C-AC72-49EB-B387-2203C8A3A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35A9-211E-48A2-A395-002010FB2EA6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2EF05A7-0834-4CDD-B505-CBF942862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0BEEDE2-28BA-4D2F-B4BC-3D44C0C4F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DC9BD-0667-462E-BCC0-C12D90CF5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2549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BAE75EC-C0C2-4400-9C54-CA73FFC52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35A9-211E-48A2-A395-002010FB2EA6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6F84AE4-2C91-460B-B712-15B13FA8C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24B10B-68FF-4DEA-992D-27DDA0B7B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DC9BD-0667-462E-BCC0-C12D90CF5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0599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7A4532-0E23-46B4-99F6-1A65A3B50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59D760-A42C-4D54-B39D-4B2268376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7656B28-4BAB-4FAD-BE87-D4BCCD7C91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0A251A-7CD4-476C-B1B0-64230EAB5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35A9-211E-48A2-A395-002010FB2EA6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74B4E5-2CF3-4877-8580-3DB7974D9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7217EAC-7667-473D-AE61-3D80B8955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DC9BD-0667-462E-BCC0-C12D90CF5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861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41D7FD-06BB-4C5E-9CDC-76CC7FE2B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1C869EC-0100-4431-AC9A-C6865A92B4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C86C872-A7AC-4CA1-B1EC-CC035A180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EC0DD99-4682-4966-BE00-034FC179B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35A9-211E-48A2-A395-002010FB2EA6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88E90DE-7D01-4374-A849-0900C9D2C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E85536-8037-4C83-9AAD-7B2A2C84A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DC9BD-0667-462E-BCC0-C12D90CF5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9936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F6370B-F8D4-49B8-AF5D-DAA7F1F28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7FFE192-B8F7-47FB-A6C7-26AB378810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3AB5B9-6E7C-4C9E-BD65-970A62A95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35A9-211E-48A2-A395-002010FB2EA6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5F35AD-71B2-4524-A4EC-36283069C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66B7CF-8496-4270-B83A-2BB77ADC4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DC9BD-0667-462E-BCC0-C12D90CF5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0471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D4FF7CA-EE10-410B-BC46-E9212FEC94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3480A68-D442-474C-844A-C74BE3E25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F01930-C13E-4399-A9A8-30BE14FE6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35A9-211E-48A2-A395-002010FB2EA6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053F99-05F4-4D7F-AC80-656AC94A7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BA647C-567F-4148-AC76-B7FCC2058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DC9BD-0667-462E-BCC0-C12D90CF5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4936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75715DD-E4D4-4B73-B454-5B81A630D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F6AC7E-5396-423F-8395-B7A11A162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69AE8A-2457-4544-9E01-4852645097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E635A9-211E-48A2-A395-002010FB2EA6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537BD7-5A6B-4F1B-9666-3C30AB092A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D25970-1791-46A0-81EE-40F3EA0DA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DC9BD-0667-462E-BCC0-C12D90CF5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768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55EAC3-2876-4F7F-9563-A8217F844A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L</a:t>
            </a:r>
            <a:r>
              <a:rPr kumimoji="1" lang="ja-JP" altLang="en-US" dirty="0"/>
              <a:t>　アーツカレッジ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68D3F1B-7ECA-421C-B783-BF9568C534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6392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EFA2A1-614E-4295-854D-934E408D5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題材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C62E326-E5CC-4307-B68E-C7C8171168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771"/>
          <a:stretch/>
        </p:blipFill>
        <p:spPr>
          <a:xfrm>
            <a:off x="4801307" y="1027906"/>
            <a:ext cx="7179757" cy="286968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C2302BA-7A18-4980-AC34-69DE3A7B11B9}"/>
              </a:ext>
            </a:extLst>
          </p:cNvPr>
          <p:cNvSpPr txBox="1"/>
          <p:nvPr/>
        </p:nvSpPr>
        <p:spPr>
          <a:xfrm>
            <a:off x="528034" y="1609859"/>
            <a:ext cx="40053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魔王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無双ゲーム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覚醒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70893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195CAC33-EC68-49EC-A7B3-E37243DF2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/>
              <a:t>コンセプト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C1C1659-76BE-4C83-AC13-97C7F668A737}"/>
              </a:ext>
            </a:extLst>
          </p:cNvPr>
          <p:cNvSpPr txBox="1"/>
          <p:nvPr/>
        </p:nvSpPr>
        <p:spPr>
          <a:xfrm>
            <a:off x="838200" y="1944710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5400" b="1" dirty="0"/>
              <a:t>爽快感</a:t>
            </a:r>
            <a:endParaRPr lang="en-US" altLang="ja-JP" sz="5400" b="1" dirty="0"/>
          </a:p>
        </p:txBody>
      </p:sp>
    </p:spTree>
    <p:extLst>
      <p:ext uri="{BB962C8B-B14F-4D97-AF65-F5344CB8AC3E}">
        <p14:creationId xmlns:p14="http://schemas.microsoft.com/office/powerpoint/2010/main" val="536752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5E9915-1EDF-4717-B379-C37E87E58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/>
              <a:t>コンセプト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93EC841-3550-4194-9FF4-3F9F800BA07F}"/>
              </a:ext>
            </a:extLst>
          </p:cNvPr>
          <p:cNvSpPr txBox="1"/>
          <p:nvPr/>
        </p:nvSpPr>
        <p:spPr>
          <a:xfrm>
            <a:off x="1229932" y="2363273"/>
            <a:ext cx="95432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覚醒リプレイ</a:t>
            </a:r>
            <a:r>
              <a:rPr lang="en-US" altLang="ja-JP" dirty="0"/>
              <a:t>(</a:t>
            </a:r>
            <a:r>
              <a:rPr lang="ja-JP" altLang="en-US" dirty="0"/>
              <a:t>引いた次ゲームから</a:t>
            </a:r>
            <a:r>
              <a:rPr lang="en-US" altLang="ja-JP" dirty="0"/>
              <a:t>3</a:t>
            </a:r>
            <a:r>
              <a:rPr lang="ja-JP" altLang="en-US" dirty="0"/>
              <a:t>ゲーム間。引いた小役をレア役に昇格</a:t>
            </a:r>
            <a:r>
              <a:rPr lang="en-US" altLang="ja-JP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常に内部でボーナス抽選</a:t>
            </a:r>
            <a:r>
              <a:rPr lang="en-US" altLang="ja-JP" dirty="0"/>
              <a:t>!?</a:t>
            </a:r>
          </a:p>
          <a:p>
            <a:r>
              <a:rPr lang="en-US" altLang="ja-JP" dirty="0"/>
              <a:t>(</a:t>
            </a:r>
            <a:r>
              <a:rPr lang="ja-JP" altLang="en-US" dirty="0"/>
              <a:t>ボーナスとレア役で内部状態を昇格。まどマギ的なゲーム数解除、レア役解除</a:t>
            </a:r>
            <a:r>
              <a:rPr lang="en-US" altLang="ja-JP" dirty="0"/>
              <a:t>)</a:t>
            </a:r>
          </a:p>
          <a:p>
            <a:endParaRPr lang="en-US" altLang="ja-JP" dirty="0"/>
          </a:p>
        </p:txBody>
      </p:sp>
      <p:pic>
        <p:nvPicPr>
          <p:cNvPr id="1028" name="Picture 4" descr="ゴジエヴァ】通常時の抽選、小役連、ゾーン狙いについて">
            <a:extLst>
              <a:ext uri="{FF2B5EF4-FFF2-40B4-BE49-F238E27FC236}">
                <a16:creationId xmlns:a16="http://schemas.microsoft.com/office/drawing/2014/main" id="{8E2A717E-67D3-4901-8D3E-99DA40E5B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110" y="3898342"/>
            <a:ext cx="5334000" cy="240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63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877DE1-EB33-4944-8921-1AB3A8221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スペック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50338CB-3944-4AA6-9581-26CABAD76874}"/>
              </a:ext>
            </a:extLst>
          </p:cNvPr>
          <p:cNvSpPr txBox="1"/>
          <p:nvPr/>
        </p:nvSpPr>
        <p:spPr>
          <a:xfrm>
            <a:off x="907961" y="1428780"/>
            <a:ext cx="1008415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純増：</a:t>
            </a:r>
            <a:r>
              <a:rPr kumimoji="1" lang="en-US" altLang="ja-JP" dirty="0"/>
              <a:t>4.0</a:t>
            </a:r>
            <a:r>
              <a:rPr kumimoji="1" lang="ja-JP" altLang="en-US" dirty="0"/>
              <a:t>枚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ボーナス確率</a:t>
            </a:r>
            <a:r>
              <a:rPr lang="en-US" altLang="ja-JP" dirty="0"/>
              <a:t>:</a:t>
            </a:r>
            <a:r>
              <a:rPr lang="ja-JP" altLang="en-US" dirty="0"/>
              <a:t>　</a:t>
            </a:r>
            <a:r>
              <a:rPr lang="en-US" altLang="ja-JP" dirty="0"/>
              <a:t>1/250</a:t>
            </a:r>
          </a:p>
          <a:p>
            <a:r>
              <a:rPr lang="en-US" altLang="ja-JP" dirty="0"/>
              <a:t>(</a:t>
            </a:r>
            <a:r>
              <a:rPr lang="ja-JP" altLang="en-US" dirty="0"/>
              <a:t>ゾーン、レア役解除合算</a:t>
            </a:r>
            <a:r>
              <a:rPr lang="en-US" altLang="ja-JP" dirty="0"/>
              <a:t>)</a:t>
            </a:r>
          </a:p>
          <a:p>
            <a:endParaRPr lang="en-US" altLang="ja-JP" dirty="0"/>
          </a:p>
          <a:p>
            <a:r>
              <a:rPr lang="ja-JP" altLang="en-US" dirty="0"/>
              <a:t>疑似ボーナスゲーム数</a:t>
            </a:r>
            <a:r>
              <a:rPr lang="en-US" altLang="ja-JP" dirty="0"/>
              <a:t>: 50+a~</a:t>
            </a:r>
          </a:p>
          <a:p>
            <a:r>
              <a:rPr lang="en-US" altLang="ja-JP" dirty="0"/>
              <a:t>(</a:t>
            </a:r>
            <a:r>
              <a:rPr lang="ja-JP" altLang="en-US" dirty="0"/>
              <a:t>レア役での高確率あり</a:t>
            </a:r>
            <a:r>
              <a:rPr lang="en-US" altLang="ja-JP" dirty="0"/>
              <a:t>)</a:t>
            </a:r>
          </a:p>
          <a:p>
            <a:endParaRPr lang="en-US" altLang="ja-JP" dirty="0"/>
          </a:p>
          <a:p>
            <a:r>
              <a:rPr lang="ja-JP" altLang="en-US" dirty="0"/>
              <a:t>上乗せ</a:t>
            </a:r>
            <a:endParaRPr lang="en-US" altLang="ja-JP" dirty="0"/>
          </a:p>
          <a:p>
            <a:r>
              <a:rPr lang="en-US" altLang="ja-JP" dirty="0"/>
              <a:t>(</a:t>
            </a:r>
            <a:r>
              <a:rPr lang="ja-JP" altLang="en-US" dirty="0"/>
              <a:t>バイツ的な</a:t>
            </a:r>
            <a:r>
              <a:rPr lang="en-US" altLang="ja-JP" dirty="0"/>
              <a:t>? </a:t>
            </a:r>
            <a:r>
              <a:rPr lang="ja-JP" altLang="en-US" dirty="0"/>
              <a:t>ゲーム数上乗せ</a:t>
            </a:r>
            <a:r>
              <a:rPr lang="en-US" altLang="ja-JP" dirty="0"/>
              <a:t>)</a:t>
            </a:r>
          </a:p>
          <a:p>
            <a:endParaRPr lang="en-US" altLang="ja-JP" dirty="0"/>
          </a:p>
          <a:p>
            <a:r>
              <a:rPr lang="ja-JP" altLang="en-US" dirty="0"/>
              <a:t>レア役の直乗せあり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アーツリプレイ高確</a:t>
            </a:r>
            <a:endParaRPr lang="en-US" altLang="ja-JP" dirty="0"/>
          </a:p>
          <a:p>
            <a:r>
              <a:rPr lang="ja-JP" altLang="en-US" dirty="0"/>
              <a:t>スイカ</a:t>
            </a:r>
            <a:r>
              <a:rPr lang="en-US" altLang="ja-JP" dirty="0"/>
              <a:t>10%</a:t>
            </a:r>
          </a:p>
          <a:p>
            <a:endParaRPr lang="en-US" altLang="ja-JP" dirty="0"/>
          </a:p>
          <a:p>
            <a:r>
              <a:rPr kumimoji="1" lang="ja-JP" altLang="en-US" dirty="0"/>
              <a:t>初期ゲーム数</a:t>
            </a:r>
            <a:r>
              <a:rPr kumimoji="1" lang="en-US" altLang="ja-JP" dirty="0"/>
              <a:t>: 50</a:t>
            </a:r>
          </a:p>
          <a:p>
            <a:endParaRPr lang="en-US" altLang="ja-JP" dirty="0"/>
          </a:p>
          <a:p>
            <a:endParaRPr kumimoji="1" lang="en-US" altLang="ja-JP" dirty="0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A31C543B-328D-4D96-9B33-D81F5E766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131335"/>
              </p:ext>
            </p:extLst>
          </p:nvPr>
        </p:nvGraphicFramePr>
        <p:xfrm>
          <a:off x="7742907" y="1670737"/>
          <a:ext cx="3178378" cy="4432080"/>
        </p:xfrm>
        <a:graphic>
          <a:graphicData uri="http://schemas.openxmlformats.org/drawingml/2006/table">
            <a:tbl>
              <a:tblPr/>
              <a:tblGrid>
                <a:gridCol w="1589189">
                  <a:extLst>
                    <a:ext uri="{9D8B030D-6E8A-4147-A177-3AD203B41FA5}">
                      <a16:colId xmlns:a16="http://schemas.microsoft.com/office/drawing/2014/main" val="2293520487"/>
                    </a:ext>
                  </a:extLst>
                </a:gridCol>
                <a:gridCol w="1589189">
                  <a:extLst>
                    <a:ext uri="{9D8B030D-6E8A-4147-A177-3AD203B41FA5}">
                      <a16:colId xmlns:a16="http://schemas.microsoft.com/office/drawing/2014/main" val="627254089"/>
                    </a:ext>
                  </a:extLst>
                </a:gridCol>
              </a:tblGrid>
              <a:tr h="521807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dirty="0">
                          <a:effectLst/>
                        </a:rPr>
                        <a:t>強チェリー</a:t>
                      </a:r>
                      <a:r>
                        <a:rPr lang="en-US" altLang="ja-JP" sz="1600" b="0" dirty="0">
                          <a:effectLst/>
                        </a:rPr>
                        <a:t>/</a:t>
                      </a:r>
                      <a:r>
                        <a:rPr lang="ja-JP" altLang="en-US" sz="1600" b="0" dirty="0">
                          <a:effectLst/>
                        </a:rPr>
                        <a:t>チャンス目</a:t>
                      </a:r>
                    </a:p>
                  </a:txBody>
                  <a:tcPr marL="44221" marR="44221" marT="22110" marB="2211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>
                          <a:effectLst/>
                        </a:rPr>
                        <a:t>1/399.6</a:t>
                      </a:r>
                    </a:p>
                  </a:txBody>
                  <a:tcPr marL="44221" marR="44221" marT="22110" marB="2211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572562"/>
                  </a:ext>
                </a:extLst>
              </a:tr>
              <a:tr h="283014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>
                          <a:effectLst/>
                        </a:rPr>
                        <a:t>弱チェリー</a:t>
                      </a:r>
                    </a:p>
                  </a:txBody>
                  <a:tcPr marL="44221" marR="44221" marT="22110" marB="2211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>
                          <a:effectLst/>
                        </a:rPr>
                        <a:t>1/69.4</a:t>
                      </a:r>
                    </a:p>
                  </a:txBody>
                  <a:tcPr marL="44221" marR="44221" marT="22110" marB="2211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552322"/>
                  </a:ext>
                </a:extLst>
              </a:tr>
              <a:tr h="283014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>
                          <a:effectLst/>
                        </a:rPr>
                        <a:t>スイカ</a:t>
                      </a:r>
                    </a:p>
                  </a:txBody>
                  <a:tcPr marL="44221" marR="44221" marT="22110" marB="2211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>
                          <a:effectLst/>
                        </a:rPr>
                        <a:t>1/98.6</a:t>
                      </a:r>
                    </a:p>
                  </a:txBody>
                  <a:tcPr marL="44221" marR="44221" marT="22110" marB="2211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44915"/>
                  </a:ext>
                </a:extLst>
              </a:tr>
              <a:tr h="283014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dirty="0">
                          <a:effectLst/>
                        </a:rPr>
                        <a:t>アーツリプレイ</a:t>
                      </a:r>
                    </a:p>
                  </a:txBody>
                  <a:tcPr marL="44221" marR="44221" marT="22110" marB="2211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>
                          <a:effectLst/>
                        </a:rPr>
                        <a:t>1/99.3</a:t>
                      </a:r>
                    </a:p>
                  </a:txBody>
                  <a:tcPr marL="44221" marR="44221" marT="22110" marB="2211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546961"/>
                  </a:ext>
                </a:extLst>
              </a:tr>
              <a:tr h="283014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>
                          <a:effectLst/>
                        </a:rPr>
                        <a:t>リプレイ</a:t>
                      </a:r>
                    </a:p>
                  </a:txBody>
                  <a:tcPr marL="44221" marR="44221" marT="22110" marB="2211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>
                          <a:effectLst/>
                        </a:rPr>
                        <a:t>1/8.9</a:t>
                      </a:r>
                    </a:p>
                  </a:txBody>
                  <a:tcPr marL="44221" marR="44221" marT="22110" marB="2211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148943"/>
                  </a:ext>
                </a:extLst>
              </a:tr>
              <a:tr h="52180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>
                          <a:effectLst/>
                        </a:rPr>
                        <a:t>1</a:t>
                      </a:r>
                      <a:r>
                        <a:rPr lang="ja-JP" altLang="en-US" sz="1600" b="0">
                          <a:effectLst/>
                        </a:rPr>
                        <a:t>枚ベル（右下がりベル）</a:t>
                      </a:r>
                    </a:p>
                  </a:txBody>
                  <a:tcPr marL="44221" marR="44221" marT="22110" marB="2211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>
                          <a:effectLst/>
                        </a:rPr>
                        <a:t>1/3.6</a:t>
                      </a:r>
                    </a:p>
                  </a:txBody>
                  <a:tcPr marL="44221" marR="44221" marT="22110" marB="2211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577978"/>
                  </a:ext>
                </a:extLst>
              </a:tr>
              <a:tr h="52180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>
                          <a:effectLst/>
                        </a:rPr>
                        <a:t>3</a:t>
                      </a:r>
                      <a:r>
                        <a:rPr lang="ja-JP" altLang="en-US" sz="1600" b="0">
                          <a:effectLst/>
                        </a:rPr>
                        <a:t>枚ベル（上段 </a:t>
                      </a:r>
                      <a:r>
                        <a:rPr lang="en-US" altLang="ja-JP" sz="1600" b="0">
                          <a:effectLst/>
                        </a:rPr>
                        <a:t>or </a:t>
                      </a:r>
                      <a:r>
                        <a:rPr lang="ja-JP" altLang="en-US" sz="1600" b="0">
                          <a:effectLst/>
                        </a:rPr>
                        <a:t>下段ベル）</a:t>
                      </a:r>
                    </a:p>
                  </a:txBody>
                  <a:tcPr marL="44221" marR="44221" marT="22110" marB="2211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>
                          <a:effectLst/>
                        </a:rPr>
                        <a:t>1/23.8</a:t>
                      </a:r>
                    </a:p>
                  </a:txBody>
                  <a:tcPr marL="44221" marR="44221" marT="22110" marB="2211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009464"/>
                  </a:ext>
                </a:extLst>
              </a:tr>
              <a:tr h="283014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>
                          <a:solidFill>
                            <a:srgbClr val="333333"/>
                          </a:solidFill>
                          <a:effectLst/>
                        </a:rPr>
                        <a:t>強レア役合算</a:t>
                      </a:r>
                    </a:p>
                  </a:txBody>
                  <a:tcPr marL="44221" marR="44221" marT="22110" marB="2211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>
                          <a:solidFill>
                            <a:srgbClr val="333333"/>
                          </a:solidFill>
                          <a:effectLst/>
                        </a:rPr>
                        <a:t>1/399.6</a:t>
                      </a:r>
                    </a:p>
                  </a:txBody>
                  <a:tcPr marL="44221" marR="44221" marT="22110" marB="2211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2943"/>
                  </a:ext>
                </a:extLst>
              </a:tr>
              <a:tr h="283014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>
                          <a:solidFill>
                            <a:srgbClr val="333333"/>
                          </a:solidFill>
                          <a:effectLst/>
                        </a:rPr>
                        <a:t>弱レア役合算</a:t>
                      </a:r>
                    </a:p>
                  </a:txBody>
                  <a:tcPr marL="44221" marR="44221" marT="22110" marB="2211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>
                          <a:solidFill>
                            <a:srgbClr val="333333"/>
                          </a:solidFill>
                          <a:effectLst/>
                        </a:rPr>
                        <a:t>1/40.7</a:t>
                      </a:r>
                    </a:p>
                  </a:txBody>
                  <a:tcPr marL="44221" marR="44221" marT="22110" marB="2211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580862"/>
                  </a:ext>
                </a:extLst>
              </a:tr>
              <a:tr h="283014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>
                          <a:solidFill>
                            <a:srgbClr val="333333"/>
                          </a:solidFill>
                          <a:effectLst/>
                        </a:rPr>
                        <a:t>レア役合算</a:t>
                      </a:r>
                    </a:p>
                  </a:txBody>
                  <a:tcPr marL="44221" marR="44221" marT="22110" marB="2211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>
                          <a:solidFill>
                            <a:srgbClr val="333333"/>
                          </a:solidFill>
                          <a:effectLst/>
                        </a:rPr>
                        <a:t>1/36.9</a:t>
                      </a:r>
                    </a:p>
                  </a:txBody>
                  <a:tcPr marL="44221" marR="44221" marT="22110" marB="2211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402161"/>
                  </a:ext>
                </a:extLst>
              </a:tr>
              <a:tr h="521807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>
                          <a:solidFill>
                            <a:srgbClr val="333333"/>
                          </a:solidFill>
                          <a:effectLst/>
                        </a:rPr>
                        <a:t>レア役＆幻想リプレイ合算</a:t>
                      </a:r>
                    </a:p>
                  </a:txBody>
                  <a:tcPr marL="44221" marR="44221" marT="22110" marB="2211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>
                          <a:solidFill>
                            <a:srgbClr val="333333"/>
                          </a:solidFill>
                          <a:effectLst/>
                        </a:rPr>
                        <a:t>1/26.9</a:t>
                      </a:r>
                    </a:p>
                  </a:txBody>
                  <a:tcPr marL="44221" marR="44221" marT="22110" marB="2211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68860"/>
                  </a:ext>
                </a:extLst>
              </a:tr>
              <a:tr h="283014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>
                          <a:solidFill>
                            <a:srgbClr val="333333"/>
                          </a:solidFill>
                          <a:effectLst/>
                        </a:rPr>
                        <a:t>小役合算</a:t>
                      </a:r>
                    </a:p>
                  </a:txBody>
                  <a:tcPr marL="44221" marR="44221" marT="22110" marB="2211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dirty="0">
                          <a:solidFill>
                            <a:srgbClr val="333333"/>
                          </a:solidFill>
                          <a:effectLst/>
                        </a:rPr>
                        <a:t>1/2.1</a:t>
                      </a:r>
                    </a:p>
                  </a:txBody>
                  <a:tcPr marL="44221" marR="44221" marT="22110" marB="2211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652343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DE22E05-4CD5-4C30-B250-883988434354}"/>
              </a:ext>
            </a:extLst>
          </p:cNvPr>
          <p:cNvSpPr txBox="1"/>
          <p:nvPr/>
        </p:nvSpPr>
        <p:spPr>
          <a:xfrm>
            <a:off x="8075590" y="1188237"/>
            <a:ext cx="309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レア役確率</a:t>
            </a:r>
          </a:p>
        </p:txBody>
      </p:sp>
    </p:spTree>
    <p:extLst>
      <p:ext uri="{BB962C8B-B14F-4D97-AF65-F5344CB8AC3E}">
        <p14:creationId xmlns:p14="http://schemas.microsoft.com/office/powerpoint/2010/main" val="425644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331D9B-4EB0-437C-984E-660DA2EBA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034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AT</a:t>
            </a:r>
            <a:r>
              <a:rPr kumimoji="1" lang="ja-JP" altLang="en-US" dirty="0"/>
              <a:t>画面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FB3D5E5-5776-49E6-9911-71722C907BA3}"/>
              </a:ext>
            </a:extLst>
          </p:cNvPr>
          <p:cNvSpPr txBox="1"/>
          <p:nvPr/>
        </p:nvSpPr>
        <p:spPr>
          <a:xfrm>
            <a:off x="10154992" y="6488668"/>
            <a:ext cx="1991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ボーナスの抽選</a:t>
            </a:r>
            <a:endParaRPr kumimoji="1" lang="en-US" altLang="ja-JP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67B75C9-24A3-486D-BAFF-15CEEC52B753}"/>
              </a:ext>
            </a:extLst>
          </p:cNvPr>
          <p:cNvSpPr txBox="1"/>
          <p:nvPr/>
        </p:nvSpPr>
        <p:spPr>
          <a:xfrm>
            <a:off x="149742" y="2696320"/>
            <a:ext cx="17729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レア役、特化ゾーンで上乗せ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29451647-F690-425A-ACD7-6A89E20562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05" t="16807" r="43645" b="25352"/>
          <a:stretch/>
        </p:blipFill>
        <p:spPr>
          <a:xfrm>
            <a:off x="2408348" y="1410982"/>
            <a:ext cx="6355725" cy="5012967"/>
          </a:xfrm>
          <a:prstGeom prst="rect">
            <a:avLst/>
          </a:prstGeom>
        </p:spPr>
      </p:pic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3F72A46-95BF-4263-A7D3-7EEF86BDCEB1}"/>
              </a:ext>
            </a:extLst>
          </p:cNvPr>
          <p:cNvCxnSpPr>
            <a:cxnSpLocks/>
          </p:cNvCxnSpPr>
          <p:nvPr/>
        </p:nvCxnSpPr>
        <p:spPr>
          <a:xfrm flipH="1">
            <a:off x="567716" y="2142034"/>
            <a:ext cx="2278515" cy="643151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36CE0D5-2211-4208-BE4B-773565994DEF}"/>
              </a:ext>
            </a:extLst>
          </p:cNvPr>
          <p:cNvCxnSpPr>
            <a:cxnSpLocks/>
          </p:cNvCxnSpPr>
          <p:nvPr/>
        </p:nvCxnSpPr>
        <p:spPr>
          <a:xfrm>
            <a:off x="8435662" y="6039363"/>
            <a:ext cx="2144332" cy="369333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08BD49A-F7FC-4636-A618-048508685DB0}"/>
              </a:ext>
            </a:extLst>
          </p:cNvPr>
          <p:cNvSpPr txBox="1"/>
          <p:nvPr/>
        </p:nvSpPr>
        <p:spPr>
          <a:xfrm>
            <a:off x="8860665" y="1770845"/>
            <a:ext cx="30200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ステージが変換する？</a:t>
            </a:r>
            <a:endParaRPr kumimoji="1" lang="en-US" altLang="ja-JP" dirty="0"/>
          </a:p>
          <a:p>
            <a:r>
              <a:rPr kumimoji="1" lang="ja-JP" altLang="en-US" dirty="0"/>
              <a:t>高確ステージ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前兆ステージ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57285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D7C956-4AA7-42A8-BD13-BFF08B530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ボーナス</a:t>
            </a:r>
          </a:p>
        </p:txBody>
      </p:sp>
      <p:pic>
        <p:nvPicPr>
          <p:cNvPr id="2050" name="Picture 2" descr="スロット魔法少女まどかマギカ ～テンパイボイスで「全ての魔女は私一人で片付ける」ってほむらが言ったんならホムエピだよね？？～|人生半分〜パチスロ大好きサラリーマンの小言2〜">
            <a:extLst>
              <a:ext uri="{FF2B5EF4-FFF2-40B4-BE49-F238E27FC236}">
                <a16:creationId xmlns:a16="http://schemas.microsoft.com/office/drawing/2014/main" id="{1EC3F8EB-9ED2-492B-9539-4FCF3F8A0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628" y="632852"/>
            <a:ext cx="3996744" cy="532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551EAC7-021A-4BAF-8BF6-B5602C41B3E5}"/>
              </a:ext>
            </a:extLst>
          </p:cNvPr>
          <p:cNvSpPr txBox="1"/>
          <p:nvPr/>
        </p:nvSpPr>
        <p:spPr>
          <a:xfrm>
            <a:off x="1062507" y="1970468"/>
            <a:ext cx="27689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モードによるゲーム数解除とレア役の一部から当選</a:t>
            </a:r>
            <a:endParaRPr kumimoji="1" lang="en-US" altLang="ja-JP" dirty="0"/>
          </a:p>
          <a:p>
            <a:r>
              <a:rPr lang="ja-JP" altLang="en-US" dirty="0"/>
              <a:t>複数モードがあり</a:t>
            </a:r>
            <a:endParaRPr lang="en-US" altLang="ja-JP" dirty="0"/>
          </a:p>
          <a:p>
            <a:r>
              <a:rPr kumimoji="1" lang="ja-JP" altLang="en-US" dirty="0"/>
              <a:t>それぞれ当選ゲーム数が違う</a:t>
            </a:r>
          </a:p>
        </p:txBody>
      </p:sp>
    </p:spTree>
    <p:extLst>
      <p:ext uri="{BB962C8B-B14F-4D97-AF65-F5344CB8AC3E}">
        <p14:creationId xmlns:p14="http://schemas.microsoft.com/office/powerpoint/2010/main" val="3849921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>
            <a:extLst>
              <a:ext uri="{FF2B5EF4-FFF2-40B4-BE49-F238E27FC236}">
                <a16:creationId xmlns:a16="http://schemas.microsoft.com/office/drawing/2014/main" id="{5B943D76-9294-46C0-8440-4FD4C9CFFE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1032" name="Picture 8" descr="060：上乗せ特化「BITES（バイツ）」の遊び方について⑥ 裏ボタンについて｜L 東京喰種｜スパイキー・クロスアルファブランド  パチスロを遊びつくす開発トリビア">
            <a:extLst>
              <a:ext uri="{FF2B5EF4-FFF2-40B4-BE49-F238E27FC236}">
                <a16:creationId xmlns:a16="http://schemas.microsoft.com/office/drawing/2014/main" id="{E8048B8A-98E4-4C7A-A0CA-7350FE0DC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435" y="223859"/>
            <a:ext cx="6766909" cy="6105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7797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201</Words>
  <Application>Microsoft Office PowerPoint</Application>
  <PresentationFormat>ワイド画面</PresentationFormat>
  <Paragraphs>69</Paragraphs>
  <Slides>8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L　アーツカレッジ</vt:lpstr>
      <vt:lpstr>題材</vt:lpstr>
      <vt:lpstr>コンセプト</vt:lpstr>
      <vt:lpstr>コンセプト</vt:lpstr>
      <vt:lpstr>スペック</vt:lpstr>
      <vt:lpstr>AT画面</vt:lpstr>
      <vt:lpstr>ボーナス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　アーツカレッジ</dc:title>
  <dc:creator>バナナ 頑張る</dc:creator>
  <cp:lastModifiedBy>バナナ 頑張る</cp:lastModifiedBy>
  <cp:revision>23</cp:revision>
  <dcterms:created xsi:type="dcterms:W3CDTF">2026-08-31T04:39:28Z</dcterms:created>
  <dcterms:modified xsi:type="dcterms:W3CDTF">2026-09-03T04:32:24Z</dcterms:modified>
</cp:coreProperties>
</file>