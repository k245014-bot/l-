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5" r:id="rId6"/>
    <p:sldId id="266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A5DFD7-EA8F-4583-9D9A-CA8E26D25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1125C4-5C00-4E6C-B77D-0541785BE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3FFDD3-AFC6-42FE-8278-1B052A26A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54395-426E-4CDF-B989-965F1770E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127746-5018-4C97-A57C-327DB9D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99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0B06D7-A86C-454B-B1D2-6B60A668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F360FB-AD9F-4A2A-BF5C-E6B06203D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55A521-FAD1-4430-A02A-EAE00C99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D293AB-3052-418F-A2EF-22A3E5D90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CB3D43-184F-40FD-83F3-4B7C24F6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6459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D31FF4-9A0C-4814-ACB5-2F3547C2A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E814EA3-F518-4B1B-BCDD-4DCBFBA81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1FFA06-7D09-470C-AFB5-B1D4EA2AB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EE2917-8B85-47E0-882B-D0F90D14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015C4A-CAFC-409A-A332-B7825B48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048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FBA587-C5FA-40EE-9583-A2CF1924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387C45-E4AB-406A-B863-B86A5386D2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DABBB27-B49D-44EA-B4D5-AC0DEDE2E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CD8929-9AA5-4B32-A006-BC1D29CD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CFD93C-F948-40B7-B5D9-1914EC38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C578A7-FF47-4CA9-AB6C-FFCAFBA24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8038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2307CB-7BCC-4FB5-8080-C8F45B02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D302E0-CA86-4569-B977-8920EFF5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4A1B3B-0935-47A3-A36E-782A3F761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D5812E-8897-407F-901E-0E8E6E2F0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E5FEAA5-3A78-49EB-9E69-1DFCFD848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1F664F-C570-43F7-92C8-BE627F71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311AD3D-E12E-4503-9573-6B15C1E2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0BF6B34-F107-47F1-8BA8-253E7726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0527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51E982-C83B-44A5-AC3D-C536E163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F04EB80-F149-4229-AEA7-79F37162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6EEF70B-C47D-4C1B-9141-AEC8B4ED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D3A33A-91B8-43AB-84F8-339325823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997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04C8314-A1E5-40FF-9478-1CE668DF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0E176C-1F53-43DD-BC9F-0D4AAAE8D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5CD9D8-91B9-44CE-9DCA-20B20864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038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B1E3ED-54EB-4FFE-90CF-8D9D5818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61F48F-65FE-4095-8EAA-AAE73BECF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16801CC-0AD9-44F5-9B24-D3FD08FFD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607DA4-E6A3-4389-A617-E57042EB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8D28C0-DA0D-494E-9F50-499D542FC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A90277-7EE4-4502-A0C8-28CAA4A0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A3AF1E-13D1-41E0-850A-99040030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B30759-3306-456A-A06A-E55B8C667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805AD5-B391-42B3-AC6B-DF1E00C7F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657780F-3CF6-423C-AB2D-B4C33B8E7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AB8DF8-8939-4B6D-A28B-51CEE25E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4C8718-D44F-4070-A113-10D993F0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626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9F2D4-EFD9-4E8E-A19C-9C937790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B81208-0292-4E0E-8366-A675613C1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6BF90E-1FC0-4EAF-8007-B728945E8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6FEE00-AD20-4297-98F4-C1B8FCD3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43C0D7-2925-44D7-8C93-1E9D12DC2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419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AF4E3E8-311F-4BA5-9663-DC72EC0F1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95AFC36-9A33-49AB-ABDD-9AC8F3573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3A615F-9028-4AE2-9737-C34854259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D5365E-6C60-421D-A602-B7CF8D71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86F5D2-0F29-4B92-B4E6-9950EED21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172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148D20-7DDB-4D25-BDCB-1898AC5D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928FDF-159B-46E4-88BF-C79BBB1D9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82A447-D05E-4436-BD19-2B0654A9E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A3FCD-3A5F-4256-88DE-32300BDE1CB1}" type="datetimeFigureOut">
              <a:rPr kumimoji="1" lang="ja-JP" altLang="en-US" smtClean="0"/>
              <a:t>2026/9/3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121E69-9087-4A43-ACA9-5683D5052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2C75ED-F527-4C3E-9EBC-C405E94C8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7C184-519C-47C2-A729-10B6D2695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8595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103A6-9A18-4567-8090-6371504DC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映像・演出関連制作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3962EA-3D0A-4593-BE2E-CF7149C49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1810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CEF27-941C-446F-96D1-38EF5B68B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通常時</a:t>
            </a:r>
            <a:r>
              <a:rPr kumimoji="1" lang="en-US" altLang="ja-JP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…</a:t>
            </a:r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制作なし、</a:t>
            </a:r>
            <a:r>
              <a:rPr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ラッシュ準備中から</a:t>
            </a:r>
            <a:endParaRPr kumimoji="1" lang="ja-JP" altLang="en-US" dirty="0"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B0EB5B0-0CDF-48BF-9F9E-147C70059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634" y="1807812"/>
            <a:ext cx="10515600" cy="4351338"/>
          </a:xfrm>
        </p:spPr>
        <p:txBody>
          <a:bodyPr/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映像制作する中で制作するのはラッシュ準備中から。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68BC60-E25E-4A11-9AC6-41C9BF9F7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35" y="2568779"/>
            <a:ext cx="3637808" cy="204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C95D55D-FB05-4851-B45F-15CB499F9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35" y="5006134"/>
            <a:ext cx="3804063" cy="15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0849EF47-DEAF-40A0-830D-449136689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249" y="2398867"/>
            <a:ext cx="3170093" cy="238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E68D00D-5AFA-43FC-B96A-CBA705FF7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854" y="4923755"/>
            <a:ext cx="4144488" cy="1657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55EC108-7426-4739-B5D5-6F133A6949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340" y="4810191"/>
            <a:ext cx="3350972" cy="1884922"/>
          </a:xfrm>
          <a:prstGeom prst="rect">
            <a:avLst/>
          </a:prstGeom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9363A74B-F572-4203-9EE7-D8990AF9F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966" y="2436014"/>
            <a:ext cx="3878067" cy="2179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997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440260-41B0-49D0-B01A-88F1EFE98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ラッシュ中</a:t>
            </a:r>
            <a:r>
              <a:rPr kumimoji="1" lang="en-US" altLang="ja-JP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…</a:t>
            </a:r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走る映像メインに制作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FC3E56-39F2-4AF3-9506-46F80703E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400" dirty="0">
                <a:latin typeface="HGP明朝B" panose="02020800000000000000" pitchFamily="18" charset="-128"/>
                <a:ea typeface="HGP明朝B" panose="02020800000000000000" pitchFamily="18" charset="-128"/>
              </a:rPr>
              <a:t>カメラ視点を変更してステージを走り続けるのを再現</a:t>
            </a:r>
            <a:endParaRPr kumimoji="1" lang="en-US" altLang="ja-JP" sz="24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r>
              <a:rPr lang="ja-JP" altLang="en-US" sz="2000" dirty="0">
                <a:latin typeface="HGP明朝B" panose="02020800000000000000" pitchFamily="18" charset="-128"/>
                <a:ea typeface="HGP明朝B" panose="02020800000000000000" pitchFamily="18" charset="-128"/>
              </a:rPr>
              <a:t>ステージアップ状態はカメラは１台で切り替えない</a:t>
            </a:r>
            <a:r>
              <a:rPr lang="en-US" altLang="ja-JP" sz="2000" dirty="0">
                <a:latin typeface="HGP明朝B" panose="02020800000000000000" pitchFamily="18" charset="-128"/>
                <a:ea typeface="HGP明朝B" panose="02020800000000000000" pitchFamily="18" charset="-128"/>
              </a:rPr>
              <a:t>(</a:t>
            </a:r>
            <a:r>
              <a:rPr lang="ja-JP" altLang="en-US" sz="2000" dirty="0">
                <a:latin typeface="HGP明朝B" panose="02020800000000000000" pitchFamily="18" charset="-128"/>
                <a:ea typeface="HGP明朝B" panose="02020800000000000000" pitchFamily="18" charset="-128"/>
              </a:rPr>
              <a:t>戦国乙女シリーズを参考</a:t>
            </a:r>
            <a:r>
              <a:rPr lang="en-US" altLang="ja-JP" sz="2000" dirty="0">
                <a:latin typeface="HGP明朝B" panose="02020800000000000000" pitchFamily="18" charset="-128"/>
                <a:ea typeface="HGP明朝B" panose="02020800000000000000" pitchFamily="18" charset="-128"/>
              </a:rPr>
              <a:t>)</a:t>
            </a:r>
          </a:p>
          <a:p>
            <a:r>
              <a:rPr kumimoji="1" lang="ja-JP" altLang="en-US" sz="2000" dirty="0">
                <a:latin typeface="HGP明朝B" panose="02020800000000000000" pitchFamily="18" charset="-128"/>
                <a:ea typeface="HGP明朝B" panose="02020800000000000000" pitchFamily="18" charset="-128"/>
              </a:rPr>
              <a:t>ステージアップする時は一瞬画面にアイキャッチなど</a:t>
            </a:r>
            <a:endParaRPr kumimoji="1" lang="en-US" altLang="ja-JP" sz="20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marL="0" indent="0">
              <a:buNone/>
            </a:pPr>
            <a:r>
              <a:rPr lang="ja-JP" altLang="en-US" sz="2000" dirty="0">
                <a:latin typeface="HGP明朝B" panose="02020800000000000000" pitchFamily="18" charset="-128"/>
                <a:ea typeface="HGP明朝B" panose="02020800000000000000" pitchFamily="18" charset="-128"/>
              </a:rPr>
              <a:t>　　　　　　　　　　　　　　　を入れてからステージを上げることを意識</a:t>
            </a:r>
            <a:endParaRPr lang="en-US" altLang="ja-JP" sz="20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marL="0" indent="0">
              <a:buNone/>
            </a:pPr>
            <a:r>
              <a:rPr lang="ja-JP" altLang="en-US" sz="1400" dirty="0">
                <a:solidFill>
                  <a:srgbClr val="FF0000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　　　　　　　　　　　　　　　　　　　　　　　　　　</a:t>
            </a:r>
            <a:r>
              <a:rPr lang="en-US" altLang="ja-JP" sz="1400" dirty="0">
                <a:solidFill>
                  <a:srgbClr val="FF0000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※</a:t>
            </a:r>
            <a:r>
              <a:rPr lang="ja-JP" altLang="en-US" sz="1400" dirty="0">
                <a:solidFill>
                  <a:srgbClr val="FF0000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ステージダウン</a:t>
            </a:r>
            <a:r>
              <a:rPr kumimoji="1" lang="ja-JP" altLang="en-US" sz="1400" dirty="0">
                <a:solidFill>
                  <a:srgbClr val="FF0000"/>
                </a:solidFill>
                <a:latin typeface="HGP明朝B" panose="02020800000000000000" pitchFamily="18" charset="-128"/>
                <a:ea typeface="HGP明朝B" panose="02020800000000000000" pitchFamily="18" charset="-128"/>
              </a:rPr>
              <a:t>時は黒いアイキャッチを共通で入れる事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74ED85-6EE1-44C7-A4D9-2863A6CAC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57" y="4231549"/>
            <a:ext cx="3688371" cy="256354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EF5BB13-F4DA-4CB3-8153-36E4D4D2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104" y="4215987"/>
            <a:ext cx="3271398" cy="257911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7C15189-0BA4-4794-B036-F9D3C247A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378" y="2827141"/>
            <a:ext cx="3390901" cy="1909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3D8CC6C-7748-458F-8BF9-C9D0CF255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6378" y="4804373"/>
            <a:ext cx="33909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35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D14526-EB2D-4377-8969-2C196A3F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ステージアップ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35741F-E115-4038-B045-6EFFC2AC5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16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5BC7A3-5D9A-446A-9E4E-C2CEB83C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32" y="-221365"/>
            <a:ext cx="10515600" cy="1325563"/>
          </a:xfrm>
        </p:spPr>
        <p:txBody>
          <a:bodyPr/>
          <a:lstStyle/>
          <a:p>
            <a:r>
              <a:rPr kumimoji="1" lang="en-US" altLang="ja-JP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UI</a:t>
            </a:r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配置</a:t>
            </a:r>
          </a:p>
        </p:txBody>
      </p:sp>
      <p:pic>
        <p:nvPicPr>
          <p:cNvPr id="2050" name="Picture 2" descr="AT「幻想殺しRUSH」｜インデックス2（スマスロ とある魔術の禁書目録2）｜パチスロ スロット">
            <a:extLst>
              <a:ext uri="{FF2B5EF4-FFF2-40B4-BE49-F238E27FC236}">
                <a16:creationId xmlns:a16="http://schemas.microsoft.com/office/drawing/2014/main" id="{B02B4180-A573-4DDB-B65C-0847EEB26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205" y="1392175"/>
            <a:ext cx="5459196" cy="436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ミリオンゴッド-神々の凱旋-（パチスロ）設定判別・天井・ゾーン・解析 GOD神々の凱旋">
            <a:extLst>
              <a:ext uri="{FF2B5EF4-FFF2-40B4-BE49-F238E27FC236}">
                <a16:creationId xmlns:a16="http://schemas.microsoft.com/office/drawing/2014/main" id="{71C61F1F-2F0F-49E1-834C-80B01D2B02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81" t="66609" b="21846"/>
          <a:stretch/>
        </p:blipFill>
        <p:spPr bwMode="auto">
          <a:xfrm>
            <a:off x="7872943" y="3494314"/>
            <a:ext cx="1221458" cy="406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前兆を経てからの上乗せについて｜L ゴジラ対エヴァンゲリオン｜パチンコパチスロ エヴァンゲリオン系 開発こぼれ話">
            <a:extLst>
              <a:ext uri="{FF2B5EF4-FFF2-40B4-BE49-F238E27FC236}">
                <a16:creationId xmlns:a16="http://schemas.microsoft.com/office/drawing/2014/main" id="{CCCFE8EB-9456-4F37-AA7D-ED86EFEE9C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3" t="79802" r="67741" b="2396"/>
          <a:stretch/>
        </p:blipFill>
        <p:spPr bwMode="auto">
          <a:xfrm>
            <a:off x="8079061" y="2811483"/>
            <a:ext cx="1015340" cy="682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DCB354F-3CB9-4F07-8253-46CE8E39D240}"/>
              </a:ext>
            </a:extLst>
          </p:cNvPr>
          <p:cNvCxnSpPr/>
          <p:nvPr/>
        </p:nvCxnSpPr>
        <p:spPr>
          <a:xfrm>
            <a:off x="8888681" y="5438899"/>
            <a:ext cx="1039090" cy="3206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D2519C8-ABD3-4FDD-A291-BF4F05BF0075}"/>
              </a:ext>
            </a:extLst>
          </p:cNvPr>
          <p:cNvSpPr txBox="1"/>
          <p:nvPr/>
        </p:nvSpPr>
        <p:spPr>
          <a:xfrm>
            <a:off x="9834550" y="5606349"/>
            <a:ext cx="125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ゲーム数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133DFCB-CFFC-4F3D-AB82-97A8098B4F12}"/>
              </a:ext>
            </a:extLst>
          </p:cNvPr>
          <p:cNvSpPr txBox="1"/>
          <p:nvPr/>
        </p:nvSpPr>
        <p:spPr>
          <a:xfrm>
            <a:off x="2006732" y="5913128"/>
            <a:ext cx="125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クレジット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ED350A8-5F65-4ED4-8517-1A102E911454}"/>
              </a:ext>
            </a:extLst>
          </p:cNvPr>
          <p:cNvCxnSpPr/>
          <p:nvPr/>
        </p:nvCxnSpPr>
        <p:spPr>
          <a:xfrm flipH="1">
            <a:off x="2867891" y="5533901"/>
            <a:ext cx="1205345" cy="4417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1136FE1-37A9-49BF-B58E-4EEE3D6E3AFF}"/>
              </a:ext>
            </a:extLst>
          </p:cNvPr>
          <p:cNvCxnSpPr/>
          <p:nvPr/>
        </p:nvCxnSpPr>
        <p:spPr>
          <a:xfrm flipH="1" flipV="1">
            <a:off x="2689761" y="1460665"/>
            <a:ext cx="1229096" cy="7719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EA86816-7862-4110-A96D-CF04D13B3AC0}"/>
              </a:ext>
            </a:extLst>
          </p:cNvPr>
          <p:cNvSpPr txBox="1"/>
          <p:nvPr/>
        </p:nvSpPr>
        <p:spPr>
          <a:xfrm>
            <a:off x="1254380" y="1275999"/>
            <a:ext cx="1435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残りゲーム数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AEF7C81-6793-4C88-9582-9074D9895BA1}"/>
              </a:ext>
            </a:extLst>
          </p:cNvPr>
          <p:cNvSpPr txBox="1"/>
          <p:nvPr/>
        </p:nvSpPr>
        <p:spPr>
          <a:xfrm>
            <a:off x="10111641" y="1005433"/>
            <a:ext cx="125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獲得枚数</a:t>
            </a:r>
            <a:endParaRPr kumimoji="1" lang="ja-JP" altLang="en-US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D49F46D-063E-40FE-B253-05C4A6E9CF82}"/>
              </a:ext>
            </a:extLst>
          </p:cNvPr>
          <p:cNvCxnSpPr>
            <a:endCxn id="16" idx="1"/>
          </p:cNvCxnSpPr>
          <p:nvPr/>
        </p:nvCxnSpPr>
        <p:spPr>
          <a:xfrm flipV="1">
            <a:off x="9048997" y="1190099"/>
            <a:ext cx="1062644" cy="4130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FA554B8-BEB6-4822-9C43-9BA282864AD6}"/>
              </a:ext>
            </a:extLst>
          </p:cNvPr>
          <p:cNvSpPr txBox="1"/>
          <p:nvPr/>
        </p:nvSpPr>
        <p:spPr>
          <a:xfrm>
            <a:off x="10610404" y="3494314"/>
            <a:ext cx="125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小役履歴</a:t>
            </a:r>
            <a:endParaRPr kumimoji="1" lang="ja-JP" altLang="en-US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26662AF-AF24-42B6-BF66-44ED5870570C}"/>
              </a:ext>
            </a:extLst>
          </p:cNvPr>
          <p:cNvCxnSpPr>
            <a:endCxn id="19" idx="1"/>
          </p:cNvCxnSpPr>
          <p:nvPr/>
        </p:nvCxnSpPr>
        <p:spPr>
          <a:xfrm flipV="1">
            <a:off x="8888681" y="3678980"/>
            <a:ext cx="1721723" cy="18699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1A8002E-7139-4789-86B0-90B37028F59F}"/>
              </a:ext>
            </a:extLst>
          </p:cNvPr>
          <p:cNvCxnSpPr>
            <a:cxnSpLocks/>
          </p:cNvCxnSpPr>
          <p:nvPr/>
        </p:nvCxnSpPr>
        <p:spPr>
          <a:xfrm flipV="1">
            <a:off x="8888681" y="3075709"/>
            <a:ext cx="1324098" cy="1662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CC2BFE8-CA5B-4859-8DC3-CD35EE1A98F3}"/>
              </a:ext>
            </a:extLst>
          </p:cNvPr>
          <p:cNvSpPr txBox="1"/>
          <p:nvPr/>
        </p:nvSpPr>
        <p:spPr>
          <a:xfrm>
            <a:off x="10212779" y="2891043"/>
            <a:ext cx="125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何かに使う</a:t>
            </a:r>
            <a:endParaRPr kumimoji="1" lang="ja-JP" altLang="en-US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0407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10D5E-1F1D-4B41-B9CC-86FD4387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※</a:t>
            </a:r>
            <a:r>
              <a:rPr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覚醒</a:t>
            </a:r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リプレイ高確率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5C413C-10E0-4BFF-89CA-A6B7A3658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23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5BF969-81D7-4DF0-8ECC-B2B51B744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ラッシュ中の直乗せ</a:t>
            </a:r>
            <a:r>
              <a:rPr kumimoji="1" lang="en-US" altLang="ja-JP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…</a:t>
            </a:r>
            <a:r>
              <a:rPr kumimoji="1" lang="ja-JP" altLang="en-US" dirty="0"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あり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AD72F4-A7B5-4B72-8646-E5394C0FD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演出</a:t>
            </a:r>
            <a:r>
              <a:rPr lang="ja-JP" altLang="en-US" dirty="0"/>
              <a:t>中はキャラが出てから上乗せを参考にする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534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ED1BAB-22A6-447B-99E3-2277ECF2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小役履歴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984292-F046-411C-B518-9C12D76BE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ゴジエヴァやゴットのように演出を</a:t>
            </a:r>
            <a:endParaRPr kumimoji="1" lang="en-US" altLang="ja-JP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r>
              <a:rPr lang="ja-JP" altLang="en-US" dirty="0">
                <a:latin typeface="HGP明朝B" panose="02020800000000000000" pitchFamily="18" charset="-128"/>
                <a:ea typeface="HGP明朝B" panose="02020800000000000000" pitchFamily="18" charset="-128"/>
              </a:rPr>
              <a:t>レア役は３連、リプレイは５連で濃厚</a:t>
            </a:r>
            <a:endParaRPr lang="en-US" altLang="ja-JP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1026" name="Picture 2" descr="ゴブスレ2 スマスロ】AT「ゴブリンスレイヤーRUSH」">
            <a:extLst>
              <a:ext uri="{FF2B5EF4-FFF2-40B4-BE49-F238E27FC236}">
                <a16:creationId xmlns:a16="http://schemas.microsoft.com/office/drawing/2014/main" id="{819DA8D3-740D-4BCF-87D8-E46E3A89C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119" y="3506094"/>
            <a:ext cx="4055789" cy="313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ミリオンゴッド-神々の凱旋-（パチスロ）設定判別・天井・ゾーン・解析 GOD神々の凱旋">
            <a:extLst>
              <a:ext uri="{FF2B5EF4-FFF2-40B4-BE49-F238E27FC236}">
                <a16:creationId xmlns:a16="http://schemas.microsoft.com/office/drawing/2014/main" id="{B1727CB4-E3C1-432D-8FFF-C4297F692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330" y="865172"/>
            <a:ext cx="4183578" cy="239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前兆を経てからの上乗せについて｜L ゴジラ対エヴァンゲリオン｜パチンコパチスロ エヴァンゲリオン系 開発こぼれ話">
            <a:extLst>
              <a:ext uri="{FF2B5EF4-FFF2-40B4-BE49-F238E27FC236}">
                <a16:creationId xmlns:a16="http://schemas.microsoft.com/office/drawing/2014/main" id="{1F2D79F8-E08D-4CBF-8E92-7097EB1FD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102" y="3506094"/>
            <a:ext cx="3916228" cy="313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265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FB8B07-D550-433A-8BF7-5B2AEAED1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ゲーム数発展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6FC1F0-9D12-461B-906E-7D967A081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5642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7F6CE5-ECE4-4571-AE7B-4E500E2B8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特化</a:t>
            </a:r>
            <a:r>
              <a:rPr kumimoji="1" lang="en-US" altLang="ja-JP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ZONE</a:t>
            </a:r>
            <a:endParaRPr kumimoji="1" lang="ja-JP" altLang="en-US" dirty="0">
              <a:latin typeface="HGS創英ﾌﾟﾚｾﾞﾝｽEB" panose="02020800000000000000" pitchFamily="18" charset="-128"/>
              <a:ea typeface="HGS創英ﾌﾟﾚｾﾞﾝｽEB" panose="02020800000000000000" pitchFamily="18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BA4085-8CC2-45B9-8120-C1FF4A492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5775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CF1521-55D2-4666-A1BE-91267A0B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HGS創英ﾌﾟﾚｾﾞﾝｽEB" panose="02020800000000000000" pitchFamily="18" charset="-128"/>
                <a:ea typeface="HGS創英ﾌﾟﾚｾﾞﾝｽEB" panose="02020800000000000000" pitchFamily="18" charset="-128"/>
              </a:rPr>
              <a:t>ボーナス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76A347-A883-4D5D-A792-E875F7F6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カバネリアタック</a:t>
            </a:r>
            <a:endParaRPr kumimoji="1" lang="en-US" altLang="ja-JP" dirty="0"/>
          </a:p>
          <a:p>
            <a:r>
              <a:rPr lang="ja-JP" altLang="en-US" dirty="0"/>
              <a:t>ライズ</a:t>
            </a:r>
            <a:r>
              <a:rPr lang="en-US" altLang="ja-JP" dirty="0"/>
              <a:t>ZONE</a:t>
            </a:r>
            <a:r>
              <a:rPr lang="ja-JP" altLang="en-US" dirty="0"/>
              <a:t>・・・貰える枚数変化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529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CC1E36-7A71-431B-A5E7-D23665CF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390919-33B1-4468-B1DC-595E5C4E4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74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201</Words>
  <Application>Microsoft Office PowerPoint</Application>
  <PresentationFormat>ワイド画面</PresentationFormat>
  <Paragraphs>28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HGP創英ﾌﾟﾚｾﾞﾝｽEB</vt:lpstr>
      <vt:lpstr>HGP明朝B</vt:lpstr>
      <vt:lpstr>HGS創英ﾌﾟﾚｾﾞﾝｽEB</vt:lpstr>
      <vt:lpstr>游ゴシック</vt:lpstr>
      <vt:lpstr>游ゴシック Light</vt:lpstr>
      <vt:lpstr>Arial</vt:lpstr>
      <vt:lpstr>Office テーマ</vt:lpstr>
      <vt:lpstr>映像・演出関連制作</vt:lpstr>
      <vt:lpstr>通常時…制作なし、ラッシュ準備中から</vt:lpstr>
      <vt:lpstr>ラッシュ中…走る映像メインに制作</vt:lpstr>
      <vt:lpstr>ステージアップ</vt:lpstr>
      <vt:lpstr>UI配置</vt:lpstr>
      <vt:lpstr>※覚醒リプレイ高確率</vt:lpstr>
      <vt:lpstr>ラッシュ中の直乗せ…あり</vt:lpstr>
      <vt:lpstr>小役履歴</vt:lpstr>
      <vt:lpstr>ゲーム数発展</vt:lpstr>
      <vt:lpstr>特化ZONE</vt:lpstr>
      <vt:lpstr>ボーナス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映像・演出関連制作</dc:title>
  <dc:creator>デスソース ハンバーグ</dc:creator>
  <cp:lastModifiedBy>デスソース ハンバーグ</cp:lastModifiedBy>
  <cp:revision>14</cp:revision>
  <dcterms:created xsi:type="dcterms:W3CDTF">2026-09-03T01:00:39Z</dcterms:created>
  <dcterms:modified xsi:type="dcterms:W3CDTF">2026-09-03T06:15:55Z</dcterms:modified>
</cp:coreProperties>
</file>